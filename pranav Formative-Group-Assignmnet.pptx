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65" r:id="rId6"/>
    <p:sldId id="264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7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US"/>
              <a:t>Total Flights by AIRLINE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Flights</c:v>
                </c:pt>
              </c:strCache>
            </c:strRef>
          </c:tx>
          <c:invertIfNegative val="1"/>
          <c:cat>
            <c:strRef>
              <c:f>Sheet1!$A$2:$A$2</c:f>
              <c:strCache>
                <c:ptCount val="1"/>
                <c:pt idx="0">
                  <c:v>(Blank)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5800000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B0-42CC-85E0-551CE21A23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US"/>
              <a:t>Total Flights by CITY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Flights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Chicago</c:v>
                </c:pt>
                <c:pt idx="1">
                  <c:v>Atlanta</c:v>
                </c:pt>
                <c:pt idx="2">
                  <c:v>Dallas</c:v>
                </c:pt>
                <c:pt idx="3">
                  <c:v>Houston</c:v>
                </c:pt>
                <c:pt idx="4">
                  <c:v>Denver</c:v>
                </c:pt>
                <c:pt idx="5">
                  <c:v>Los Angeles</c:v>
                </c:pt>
                <c:pt idx="6">
                  <c:v>Phoenix</c:v>
                </c:pt>
                <c:pt idx="7">
                  <c:v>San Francisco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480000</c:v>
                </c:pt>
                <c:pt idx="1">
                  <c:v>370000</c:v>
                </c:pt>
                <c:pt idx="2">
                  <c:v>340000</c:v>
                </c:pt>
                <c:pt idx="3">
                  <c:v>220000</c:v>
                </c:pt>
                <c:pt idx="4">
                  <c:v>200000</c:v>
                </c:pt>
                <c:pt idx="5">
                  <c:v>190000</c:v>
                </c:pt>
                <c:pt idx="6">
                  <c:v>150000</c:v>
                </c:pt>
                <c:pt idx="7">
                  <c:v>130000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26-4964-BC33-2503BD4185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r>
              <a:rPr lang="en-US"/>
              <a:t>Total Flights by CITY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Flights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Chicago</c:v>
                </c:pt>
                <c:pt idx="1">
                  <c:v>Atlanta</c:v>
                </c:pt>
                <c:pt idx="2">
                  <c:v>Dallas</c:v>
                </c:pt>
                <c:pt idx="3">
                  <c:v>Denver</c:v>
                </c:pt>
                <c:pt idx="4">
                  <c:v>Phoenix</c:v>
                </c:pt>
                <c:pt idx="5">
                  <c:v>Seattle</c:v>
                </c:pt>
                <c:pt idx="6">
                  <c:v>Boston</c:v>
                </c:pt>
                <c:pt idx="7">
                  <c:v>New York</c:v>
                </c:pt>
                <c:pt idx="8">
                  <c:v>Miami</c:v>
                </c:pt>
                <c:pt idx="9">
                  <c:v>Orlando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500000</c:v>
                </c:pt>
                <c:pt idx="1">
                  <c:v>420000</c:v>
                </c:pt>
                <c:pt idx="2">
                  <c:v>300000</c:v>
                </c:pt>
                <c:pt idx="3">
                  <c:v>200000</c:v>
                </c:pt>
                <c:pt idx="4">
                  <c:v>180000</c:v>
                </c:pt>
                <c:pt idx="5">
                  <c:v>150000</c:v>
                </c:pt>
                <c:pt idx="6">
                  <c:v>120000</c:v>
                </c:pt>
                <c:pt idx="7">
                  <c:v>110000</c:v>
                </c:pt>
                <c:pt idx="8">
                  <c:v>90000</c:v>
                </c:pt>
                <c:pt idx="9">
                  <c:v>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95-4EB0-872F-AAF6EA5758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C9710E-88CC-4164-BE62-D3B9E561D7F4}" type="doc">
      <dgm:prSet loTypeId="urn:microsoft.com/office/officeart/2005/8/layout/hList1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4E4EC04-6B89-4FAD-8817-D58CC6BA31B8}">
      <dgm:prSet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184912" tIns="105664" rIns="184912" bIns="105664" numCol="1" spcCol="1270" anchor="ctr" anchorCtr="0"/>
        <a:lstStyle/>
        <a:p>
          <a:r>
            <a:rPr lang="en-GB" sz="2600" b="0" i="0" kern="1200" baseline="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The</a:t>
          </a:r>
          <a:r>
            <a:rPr lang="en-GB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US Flight Delays dataset contains:</a:t>
          </a:r>
          <a:endParaRPr lang="en-IN" sz="2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3ABE25-8F22-4A60-B515-0E3A4E0F23C9}" type="parTrans" cxnId="{C664DA69-1398-48BA-B64A-19824774FD7D}">
      <dgm:prSet/>
      <dgm:spPr/>
      <dgm:t>
        <a:bodyPr/>
        <a:lstStyle/>
        <a:p>
          <a:endParaRPr lang="en-IN"/>
        </a:p>
      </dgm:t>
    </dgm:pt>
    <dgm:pt modelId="{3A9D5156-1005-4A82-9EF2-205331C4E0D8}" type="sibTrans" cxnId="{C664DA69-1398-48BA-B64A-19824774FD7D}">
      <dgm:prSet/>
      <dgm:spPr/>
      <dgm:t>
        <a:bodyPr/>
        <a:lstStyle/>
        <a:p>
          <a:endParaRPr lang="en-IN"/>
        </a:p>
      </dgm:t>
    </dgm:pt>
    <dgm:pt modelId="{A2E4958C-83DD-430F-8B6A-4EE1C6BB7953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Flight Date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47BAF45-7A0C-444D-BB08-06C836C4F2C1}" type="parTrans" cxnId="{04986C6A-19C3-4BF7-AB6D-D13EA78CA612}">
      <dgm:prSet/>
      <dgm:spPr/>
      <dgm:t>
        <a:bodyPr/>
        <a:lstStyle/>
        <a:p>
          <a:endParaRPr lang="en-IN"/>
        </a:p>
      </dgm:t>
    </dgm:pt>
    <dgm:pt modelId="{7FD93195-BC30-4ECF-BE80-5D6C14116477}" type="sibTrans" cxnId="{04986C6A-19C3-4BF7-AB6D-D13EA78CA612}">
      <dgm:prSet/>
      <dgm:spPr/>
      <dgm:t>
        <a:bodyPr/>
        <a:lstStyle/>
        <a:p>
          <a:endParaRPr lang="en-IN"/>
        </a:p>
      </dgm:t>
    </dgm:pt>
    <dgm:pt modelId="{F6F350E0-52CA-4C1A-AFC2-72E8E5580BCD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Airline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4F5496-CC62-4FA4-ACF5-2A9615DEF9C5}" type="parTrans" cxnId="{A8E8D299-E85F-4287-A0EE-F28C79B8B360}">
      <dgm:prSet/>
      <dgm:spPr/>
      <dgm:t>
        <a:bodyPr/>
        <a:lstStyle/>
        <a:p>
          <a:endParaRPr lang="en-IN"/>
        </a:p>
      </dgm:t>
    </dgm:pt>
    <dgm:pt modelId="{991F85F7-4E23-4F4E-A1C9-5F9467CFBCAD}" type="sibTrans" cxnId="{A8E8D299-E85F-4287-A0EE-F28C79B8B360}">
      <dgm:prSet/>
      <dgm:spPr/>
      <dgm:t>
        <a:bodyPr/>
        <a:lstStyle/>
        <a:p>
          <a:endParaRPr lang="en-IN"/>
        </a:p>
      </dgm:t>
    </dgm:pt>
    <dgm:pt modelId="{DB4BDA5A-300C-4992-B007-D5842C1D799A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Origin Airport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331B90-7B8A-4ACD-8D7A-C669E0E1C939}" type="parTrans" cxnId="{9324FC4E-3788-421A-BDAF-786B8D60809D}">
      <dgm:prSet/>
      <dgm:spPr/>
      <dgm:t>
        <a:bodyPr/>
        <a:lstStyle/>
        <a:p>
          <a:endParaRPr lang="en-IN"/>
        </a:p>
      </dgm:t>
    </dgm:pt>
    <dgm:pt modelId="{0102D41D-15F3-4098-A993-4D77A7B513D2}" type="sibTrans" cxnId="{9324FC4E-3788-421A-BDAF-786B8D60809D}">
      <dgm:prSet/>
      <dgm:spPr/>
      <dgm:t>
        <a:bodyPr/>
        <a:lstStyle/>
        <a:p>
          <a:endParaRPr lang="en-IN"/>
        </a:p>
      </dgm:t>
    </dgm:pt>
    <dgm:pt modelId="{51D1126F-CA98-4132-9EB4-394102A8EBF6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Destination Airport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E5D7D6-60E4-48EC-9E48-AA0AECDBCEFE}" type="parTrans" cxnId="{228E00E9-96BA-4898-B9EA-AE4FD7B10C5A}">
      <dgm:prSet/>
      <dgm:spPr/>
      <dgm:t>
        <a:bodyPr/>
        <a:lstStyle/>
        <a:p>
          <a:endParaRPr lang="en-IN"/>
        </a:p>
      </dgm:t>
    </dgm:pt>
    <dgm:pt modelId="{2D4ED00D-DEC8-4927-9E14-919825416B0A}" type="sibTrans" cxnId="{228E00E9-96BA-4898-B9EA-AE4FD7B10C5A}">
      <dgm:prSet/>
      <dgm:spPr/>
      <dgm:t>
        <a:bodyPr/>
        <a:lstStyle/>
        <a:p>
          <a:endParaRPr lang="en-IN"/>
        </a:p>
      </dgm:t>
    </dgm:pt>
    <dgm:pt modelId="{1580DB39-DA51-40F5-B432-4721A8D94DA9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Departure Delay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388DCC-698E-4A33-B5D2-238D56CDB004}" type="parTrans" cxnId="{A8DB557C-2F9E-4332-8A3E-C2D9E2740784}">
      <dgm:prSet/>
      <dgm:spPr/>
      <dgm:t>
        <a:bodyPr/>
        <a:lstStyle/>
        <a:p>
          <a:endParaRPr lang="en-IN"/>
        </a:p>
      </dgm:t>
    </dgm:pt>
    <dgm:pt modelId="{D223CDD5-BBD0-4286-B0ED-AD5D36757BEF}" type="sibTrans" cxnId="{A8DB557C-2F9E-4332-8A3E-C2D9E2740784}">
      <dgm:prSet/>
      <dgm:spPr/>
      <dgm:t>
        <a:bodyPr/>
        <a:lstStyle/>
        <a:p>
          <a:endParaRPr lang="en-IN"/>
        </a:p>
      </dgm:t>
    </dgm:pt>
    <dgm:pt modelId="{EB4F5444-7B24-4F00-A0A1-BF291B98CFAE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Arrival Delay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0D04A6-C57C-49A8-9DEB-504E8118CCD7}" type="parTrans" cxnId="{9CB5ED05-2B87-4FDA-BC3F-A62BD1DD9358}">
      <dgm:prSet/>
      <dgm:spPr/>
      <dgm:t>
        <a:bodyPr/>
        <a:lstStyle/>
        <a:p>
          <a:endParaRPr lang="en-IN"/>
        </a:p>
      </dgm:t>
    </dgm:pt>
    <dgm:pt modelId="{C094CA42-DD2C-40B6-BE69-615BFCCE834A}" type="sibTrans" cxnId="{9CB5ED05-2B87-4FDA-BC3F-A62BD1DD9358}">
      <dgm:prSet/>
      <dgm:spPr/>
      <dgm:t>
        <a:bodyPr/>
        <a:lstStyle/>
        <a:p>
          <a:endParaRPr lang="en-IN"/>
        </a:p>
      </dgm:t>
    </dgm:pt>
    <dgm:pt modelId="{A29FE37C-FA86-495E-8854-2863CAED4F84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Cancellation Status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FE9215-4676-48D5-B127-496DCA991B30}" type="parTrans" cxnId="{1EF8BC6A-F819-4A7F-9348-9CFEF85FEE6F}">
      <dgm:prSet/>
      <dgm:spPr/>
      <dgm:t>
        <a:bodyPr/>
        <a:lstStyle/>
        <a:p>
          <a:endParaRPr lang="en-IN"/>
        </a:p>
      </dgm:t>
    </dgm:pt>
    <dgm:pt modelId="{DE621A33-CB81-4FBC-B139-B4389D5CC4D0}" type="sibTrans" cxnId="{1EF8BC6A-F819-4A7F-9348-9CFEF85FEE6F}">
      <dgm:prSet/>
      <dgm:spPr/>
      <dgm:t>
        <a:bodyPr/>
        <a:lstStyle/>
        <a:p>
          <a:endParaRPr lang="en-IN"/>
        </a:p>
      </dgm:t>
    </dgm:pt>
    <dgm:pt modelId="{D9819F36-C5BA-4C44-9CAD-75340369DABC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Distance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EC50127-ADB2-4B8C-954F-F2E2E251601B}" type="parTrans" cxnId="{C0205115-3260-475E-B122-F1799828F239}">
      <dgm:prSet/>
      <dgm:spPr/>
      <dgm:t>
        <a:bodyPr/>
        <a:lstStyle/>
        <a:p>
          <a:endParaRPr lang="en-IN"/>
        </a:p>
      </dgm:t>
    </dgm:pt>
    <dgm:pt modelId="{95C17572-CA8C-46D3-81F9-4BE82B5383AD}" type="sibTrans" cxnId="{C0205115-3260-475E-B122-F1799828F239}">
      <dgm:prSet/>
      <dgm:spPr/>
      <dgm:t>
        <a:bodyPr/>
        <a:lstStyle/>
        <a:p>
          <a:endParaRPr lang="en-IN"/>
        </a:p>
      </dgm:t>
    </dgm:pt>
    <dgm:pt modelId="{DD551B40-EA0B-4E0B-BA9B-904421781A21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Day, Month, Year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DD531D-77D8-492C-8740-B20F20D27608}" type="parTrans" cxnId="{8DE86786-E7A8-4E8A-AA79-8F0793515419}">
      <dgm:prSet/>
      <dgm:spPr/>
      <dgm:t>
        <a:bodyPr/>
        <a:lstStyle/>
        <a:p>
          <a:endParaRPr lang="en-IN"/>
        </a:p>
      </dgm:t>
    </dgm:pt>
    <dgm:pt modelId="{144E17A0-A135-4A22-B4EC-BB6A8513E8E2}" type="sibTrans" cxnId="{8DE86786-E7A8-4E8A-AA79-8F0793515419}">
      <dgm:prSet/>
      <dgm:spPr/>
      <dgm:t>
        <a:bodyPr/>
        <a:lstStyle/>
        <a:p>
          <a:endParaRPr lang="en-IN"/>
        </a:p>
      </dgm:t>
    </dgm:pt>
    <dgm:pt modelId="{8A2DC95C-762C-4353-87D9-2DAC6C6815B3}" type="pres">
      <dgm:prSet presAssocID="{9AC9710E-88CC-4164-BE62-D3B9E561D7F4}" presName="Name0" presStyleCnt="0">
        <dgm:presLayoutVars>
          <dgm:dir/>
          <dgm:animLvl val="lvl"/>
          <dgm:resizeHandles val="exact"/>
        </dgm:presLayoutVars>
      </dgm:prSet>
      <dgm:spPr/>
    </dgm:pt>
    <dgm:pt modelId="{F6FAE1B4-9C53-4EBD-96BC-CD894B7E8F7D}" type="pres">
      <dgm:prSet presAssocID="{A4E4EC04-6B89-4FAD-8817-D58CC6BA31B8}" presName="composite" presStyleCnt="0"/>
      <dgm:spPr/>
    </dgm:pt>
    <dgm:pt modelId="{131E45A2-3ACC-4A28-A63D-15C57240D150}" type="pres">
      <dgm:prSet presAssocID="{A4E4EC04-6B89-4FAD-8817-D58CC6BA31B8}" presName="parTx" presStyleLbl="alignNode1" presStyleIdx="0" presStyleCnt="1">
        <dgm:presLayoutVars>
          <dgm:chMax val="0"/>
          <dgm:chPref val="0"/>
          <dgm:bulletEnabled val="1"/>
        </dgm:presLayoutVars>
      </dgm:prSet>
      <dgm:spPr>
        <a:xfrm>
          <a:off x="0" y="29115"/>
          <a:ext cx="4452258" cy="910066"/>
        </a:xfrm>
        <a:prstGeom prst="rect">
          <a:avLst/>
        </a:prstGeom>
      </dgm:spPr>
    </dgm:pt>
    <dgm:pt modelId="{760F1B01-9EF9-47D7-B3D0-566A5CC4B7FE}" type="pres">
      <dgm:prSet presAssocID="{A4E4EC04-6B89-4FAD-8817-D58CC6BA31B8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9CB5ED05-2B87-4FDA-BC3F-A62BD1DD9358}" srcId="{A4E4EC04-6B89-4FAD-8817-D58CC6BA31B8}" destId="{EB4F5444-7B24-4F00-A0A1-BF291B98CFAE}" srcOrd="5" destOrd="0" parTransId="{130D04A6-C57C-49A8-9DEB-504E8118CCD7}" sibTransId="{C094CA42-DD2C-40B6-BE69-615BFCCE834A}"/>
    <dgm:cxn modelId="{E486F007-A1FE-4BB0-9E1E-C9B505B4944B}" type="presOf" srcId="{DB4BDA5A-300C-4992-B007-D5842C1D799A}" destId="{760F1B01-9EF9-47D7-B3D0-566A5CC4B7FE}" srcOrd="0" destOrd="2" presId="urn:microsoft.com/office/officeart/2005/8/layout/hList1"/>
    <dgm:cxn modelId="{C0205115-3260-475E-B122-F1799828F239}" srcId="{A4E4EC04-6B89-4FAD-8817-D58CC6BA31B8}" destId="{D9819F36-C5BA-4C44-9CAD-75340369DABC}" srcOrd="7" destOrd="0" parTransId="{2EC50127-ADB2-4B8C-954F-F2E2E251601B}" sibTransId="{95C17572-CA8C-46D3-81F9-4BE82B5383AD}"/>
    <dgm:cxn modelId="{CBEC8D1B-4D73-41AC-800B-103D0245D176}" type="presOf" srcId="{51D1126F-CA98-4132-9EB4-394102A8EBF6}" destId="{760F1B01-9EF9-47D7-B3D0-566A5CC4B7FE}" srcOrd="0" destOrd="3" presId="urn:microsoft.com/office/officeart/2005/8/layout/hList1"/>
    <dgm:cxn modelId="{15A2AF2B-5F2D-4B8C-9E47-7E567CE4E4C9}" type="presOf" srcId="{A29FE37C-FA86-495E-8854-2863CAED4F84}" destId="{760F1B01-9EF9-47D7-B3D0-566A5CC4B7FE}" srcOrd="0" destOrd="6" presId="urn:microsoft.com/office/officeart/2005/8/layout/hList1"/>
    <dgm:cxn modelId="{C664DA69-1398-48BA-B64A-19824774FD7D}" srcId="{9AC9710E-88CC-4164-BE62-D3B9E561D7F4}" destId="{A4E4EC04-6B89-4FAD-8817-D58CC6BA31B8}" srcOrd="0" destOrd="0" parTransId="{B83ABE25-8F22-4A60-B515-0E3A4E0F23C9}" sibTransId="{3A9D5156-1005-4A82-9EF2-205331C4E0D8}"/>
    <dgm:cxn modelId="{04986C6A-19C3-4BF7-AB6D-D13EA78CA612}" srcId="{A4E4EC04-6B89-4FAD-8817-D58CC6BA31B8}" destId="{A2E4958C-83DD-430F-8B6A-4EE1C6BB7953}" srcOrd="0" destOrd="0" parTransId="{447BAF45-7A0C-444D-BB08-06C836C4F2C1}" sibTransId="{7FD93195-BC30-4ECF-BE80-5D6C14116477}"/>
    <dgm:cxn modelId="{1EF8BC6A-F819-4A7F-9348-9CFEF85FEE6F}" srcId="{A4E4EC04-6B89-4FAD-8817-D58CC6BA31B8}" destId="{A29FE37C-FA86-495E-8854-2863CAED4F84}" srcOrd="6" destOrd="0" parTransId="{04FE9215-4676-48D5-B127-496DCA991B30}" sibTransId="{DE621A33-CB81-4FBC-B139-B4389D5CC4D0}"/>
    <dgm:cxn modelId="{9324FC4E-3788-421A-BDAF-786B8D60809D}" srcId="{A4E4EC04-6B89-4FAD-8817-D58CC6BA31B8}" destId="{DB4BDA5A-300C-4992-B007-D5842C1D799A}" srcOrd="2" destOrd="0" parTransId="{DA331B90-7B8A-4ACD-8D7A-C669E0E1C939}" sibTransId="{0102D41D-15F3-4098-A993-4D77A7B513D2}"/>
    <dgm:cxn modelId="{88B1BD50-85A0-4A03-9FA8-2C9D2AB7B40C}" type="presOf" srcId="{F6F350E0-52CA-4C1A-AFC2-72E8E5580BCD}" destId="{760F1B01-9EF9-47D7-B3D0-566A5CC4B7FE}" srcOrd="0" destOrd="1" presId="urn:microsoft.com/office/officeart/2005/8/layout/hList1"/>
    <dgm:cxn modelId="{A8DB557C-2F9E-4332-8A3E-C2D9E2740784}" srcId="{A4E4EC04-6B89-4FAD-8817-D58CC6BA31B8}" destId="{1580DB39-DA51-40F5-B432-4721A8D94DA9}" srcOrd="4" destOrd="0" parTransId="{ED388DCC-698E-4A33-B5D2-238D56CDB004}" sibTransId="{D223CDD5-BBD0-4286-B0ED-AD5D36757BEF}"/>
    <dgm:cxn modelId="{51A31F80-F470-43A6-8388-B4EB417E4A9C}" type="presOf" srcId="{A2E4958C-83DD-430F-8B6A-4EE1C6BB7953}" destId="{760F1B01-9EF9-47D7-B3D0-566A5CC4B7FE}" srcOrd="0" destOrd="0" presId="urn:microsoft.com/office/officeart/2005/8/layout/hList1"/>
    <dgm:cxn modelId="{8DE86786-E7A8-4E8A-AA79-8F0793515419}" srcId="{A4E4EC04-6B89-4FAD-8817-D58CC6BA31B8}" destId="{DD551B40-EA0B-4E0B-BA9B-904421781A21}" srcOrd="8" destOrd="0" parTransId="{6FDD531D-77D8-492C-8740-B20F20D27608}" sibTransId="{144E17A0-A135-4A22-B4EC-BB6A8513E8E2}"/>
    <dgm:cxn modelId="{A8E8D299-E85F-4287-A0EE-F28C79B8B360}" srcId="{A4E4EC04-6B89-4FAD-8817-D58CC6BA31B8}" destId="{F6F350E0-52CA-4C1A-AFC2-72E8E5580BCD}" srcOrd="1" destOrd="0" parTransId="{D44F5496-CC62-4FA4-ACF5-2A9615DEF9C5}" sibTransId="{991F85F7-4E23-4F4E-A1C9-5F9467CFBCAD}"/>
    <dgm:cxn modelId="{7D7227B0-EF23-4303-89B6-98350E2B9734}" type="presOf" srcId="{EB4F5444-7B24-4F00-A0A1-BF291B98CFAE}" destId="{760F1B01-9EF9-47D7-B3D0-566A5CC4B7FE}" srcOrd="0" destOrd="5" presId="urn:microsoft.com/office/officeart/2005/8/layout/hList1"/>
    <dgm:cxn modelId="{8A32D0DC-F560-4F75-A009-24377CB7EEE4}" type="presOf" srcId="{9AC9710E-88CC-4164-BE62-D3B9E561D7F4}" destId="{8A2DC95C-762C-4353-87D9-2DAC6C6815B3}" srcOrd="0" destOrd="0" presId="urn:microsoft.com/office/officeart/2005/8/layout/hList1"/>
    <dgm:cxn modelId="{531402DF-7B6C-4E30-B7B4-FAC26B9CBF41}" type="presOf" srcId="{D9819F36-C5BA-4C44-9CAD-75340369DABC}" destId="{760F1B01-9EF9-47D7-B3D0-566A5CC4B7FE}" srcOrd="0" destOrd="7" presId="urn:microsoft.com/office/officeart/2005/8/layout/hList1"/>
    <dgm:cxn modelId="{228E00E9-96BA-4898-B9EA-AE4FD7B10C5A}" srcId="{A4E4EC04-6B89-4FAD-8817-D58CC6BA31B8}" destId="{51D1126F-CA98-4132-9EB4-394102A8EBF6}" srcOrd="3" destOrd="0" parTransId="{60E5D7D6-60E4-48EC-9E48-AA0AECDBCEFE}" sibTransId="{2D4ED00D-DEC8-4927-9E14-919825416B0A}"/>
    <dgm:cxn modelId="{5740DEEE-CF61-4F46-BA06-C789B125295B}" type="presOf" srcId="{A4E4EC04-6B89-4FAD-8817-D58CC6BA31B8}" destId="{131E45A2-3ACC-4A28-A63D-15C57240D150}" srcOrd="0" destOrd="0" presId="urn:microsoft.com/office/officeart/2005/8/layout/hList1"/>
    <dgm:cxn modelId="{51D015EF-F743-44BB-84EC-412CFB17B96F}" type="presOf" srcId="{1580DB39-DA51-40F5-B432-4721A8D94DA9}" destId="{760F1B01-9EF9-47D7-B3D0-566A5CC4B7FE}" srcOrd="0" destOrd="4" presId="urn:microsoft.com/office/officeart/2005/8/layout/hList1"/>
    <dgm:cxn modelId="{64D152FC-C75E-4907-96CD-E027242BBFB2}" type="presOf" srcId="{DD551B40-EA0B-4E0B-BA9B-904421781A21}" destId="{760F1B01-9EF9-47D7-B3D0-566A5CC4B7FE}" srcOrd="0" destOrd="8" presId="urn:microsoft.com/office/officeart/2005/8/layout/hList1"/>
    <dgm:cxn modelId="{26EC34D8-3999-420A-8313-C7F64AAB5F47}" type="presParOf" srcId="{8A2DC95C-762C-4353-87D9-2DAC6C6815B3}" destId="{F6FAE1B4-9C53-4EBD-96BC-CD894B7E8F7D}" srcOrd="0" destOrd="0" presId="urn:microsoft.com/office/officeart/2005/8/layout/hList1"/>
    <dgm:cxn modelId="{30CDC131-4E23-41DC-9051-52F60D8A7630}" type="presParOf" srcId="{F6FAE1B4-9C53-4EBD-96BC-CD894B7E8F7D}" destId="{131E45A2-3ACC-4A28-A63D-15C57240D150}" srcOrd="0" destOrd="0" presId="urn:microsoft.com/office/officeart/2005/8/layout/hList1"/>
    <dgm:cxn modelId="{CDBAB2A0-8EBE-4A00-9143-437A1CAD4259}" type="presParOf" srcId="{F6FAE1B4-9C53-4EBD-96BC-CD894B7E8F7D}" destId="{760F1B01-9EF9-47D7-B3D0-566A5CC4B7F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1D90C3-D4C0-4156-A98E-737590FC733C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4E71137-82F8-4914-B1DA-92E83E6336E9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To identify: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46F09C-C4D9-4609-86C9-E5E8576FE304}" type="parTrans" cxnId="{47EBDD37-BA18-436D-9030-1E14A3215FCA}">
      <dgm:prSet/>
      <dgm:spPr/>
      <dgm:t>
        <a:bodyPr/>
        <a:lstStyle/>
        <a:p>
          <a:endParaRPr lang="en-IN"/>
        </a:p>
      </dgm:t>
    </dgm:pt>
    <dgm:pt modelId="{3CD61CA5-0C2C-4254-BF96-49FBEA01B5FA}" type="sibTrans" cxnId="{47EBDD37-BA18-436D-9030-1E14A3215FCA}">
      <dgm:prSet/>
      <dgm:spPr/>
      <dgm:t>
        <a:bodyPr/>
        <a:lstStyle/>
        <a:p>
          <a:endParaRPr lang="en-IN"/>
        </a:p>
      </dgm:t>
    </dgm:pt>
    <dgm:pt modelId="{F6FE344D-45D3-4625-AEC3-A5A8614EA797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Delay patterns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C4AF1B-247A-4775-AC1A-567F7AC9778A}" type="parTrans" cxnId="{F44B8704-9233-4D20-A6F8-148D60C91F19}">
      <dgm:prSet/>
      <dgm:spPr/>
      <dgm:t>
        <a:bodyPr/>
        <a:lstStyle/>
        <a:p>
          <a:endParaRPr lang="en-IN"/>
        </a:p>
      </dgm:t>
    </dgm:pt>
    <dgm:pt modelId="{C6BDC197-ACA3-451F-BB37-BB9EA130912F}" type="sibTrans" cxnId="{F44B8704-9233-4D20-A6F8-148D60C91F19}">
      <dgm:prSet/>
      <dgm:spPr/>
      <dgm:t>
        <a:bodyPr/>
        <a:lstStyle/>
        <a:p>
          <a:endParaRPr lang="en-IN"/>
        </a:p>
      </dgm:t>
    </dgm:pt>
    <dgm:pt modelId="{7EF1130F-2554-4F44-90CB-744ECA42EAE8}">
      <dgm:prSet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Airline performance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9D991A-6F97-4916-A8A3-0BF3CAE56C33}" type="parTrans" cxnId="{3AB2F528-B7AA-443D-A17D-57DF3C83BB35}">
      <dgm:prSet/>
      <dgm:spPr/>
      <dgm:t>
        <a:bodyPr/>
        <a:lstStyle/>
        <a:p>
          <a:endParaRPr lang="en-IN"/>
        </a:p>
      </dgm:t>
    </dgm:pt>
    <dgm:pt modelId="{BF051E59-1750-4093-9652-62701F68A2BD}" type="sibTrans" cxnId="{3AB2F528-B7AA-443D-A17D-57DF3C83BB35}">
      <dgm:prSet/>
      <dgm:spPr/>
      <dgm:t>
        <a:bodyPr/>
        <a:lstStyle/>
        <a:p>
          <a:endParaRPr lang="en-IN"/>
        </a:p>
      </dgm:t>
    </dgm:pt>
    <dgm:pt modelId="{7B17FD89-9FA8-472A-8A39-939E5AA429E4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Airport congestion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99C3A6-F9FB-4954-B2B1-3C3376434EFB}" type="parTrans" cxnId="{1A3A88EE-A1C8-4309-BF5A-E47F639B7011}">
      <dgm:prSet/>
      <dgm:spPr/>
      <dgm:t>
        <a:bodyPr/>
        <a:lstStyle/>
        <a:p>
          <a:endParaRPr lang="en-IN"/>
        </a:p>
      </dgm:t>
    </dgm:pt>
    <dgm:pt modelId="{89E64BAA-978B-4892-AFA5-3955E73C9571}" type="sibTrans" cxnId="{1A3A88EE-A1C8-4309-BF5A-E47F639B7011}">
      <dgm:prSet/>
      <dgm:spPr/>
      <dgm:t>
        <a:bodyPr/>
        <a:lstStyle/>
        <a:p>
          <a:endParaRPr lang="en-IN"/>
        </a:p>
      </dgm:t>
    </dgm:pt>
    <dgm:pt modelId="{E4717580-E4A1-452B-B998-1DC69B3D15EC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Seasonal trends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4035A9-CBE6-4504-89F8-359AE404F29D}" type="parTrans" cxnId="{998709D7-E07F-4FF9-BE9D-F3AACE5BF886}">
      <dgm:prSet/>
      <dgm:spPr/>
      <dgm:t>
        <a:bodyPr/>
        <a:lstStyle/>
        <a:p>
          <a:endParaRPr lang="en-IN"/>
        </a:p>
      </dgm:t>
    </dgm:pt>
    <dgm:pt modelId="{182E3843-BA61-4BAE-874C-394BB216AF19}" type="sibTrans" cxnId="{998709D7-E07F-4FF9-BE9D-F3AACE5BF886}">
      <dgm:prSet/>
      <dgm:spPr/>
      <dgm:t>
        <a:bodyPr/>
        <a:lstStyle/>
        <a:p>
          <a:endParaRPr lang="en-IN"/>
        </a:p>
      </dgm:t>
    </dgm:pt>
    <dgm:pt modelId="{16FAEACD-F5FC-4D5D-A3E5-003930D846E9}">
      <dgm:prSet/>
      <dgm:spPr/>
      <dgm:t>
        <a:bodyPr/>
        <a:lstStyle/>
        <a:p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Major delay contributors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09E3E4-D4CD-4F92-A455-D31C99E99DED}" type="parTrans" cxnId="{B0D09EA8-B7B6-4469-9790-B2163273C019}">
      <dgm:prSet/>
      <dgm:spPr/>
      <dgm:t>
        <a:bodyPr/>
        <a:lstStyle/>
        <a:p>
          <a:endParaRPr lang="en-IN"/>
        </a:p>
      </dgm:t>
    </dgm:pt>
    <dgm:pt modelId="{1460B5B2-95BB-4F1F-A754-2F935525F341}" type="sibTrans" cxnId="{B0D09EA8-B7B6-4469-9790-B2163273C019}">
      <dgm:prSet/>
      <dgm:spPr/>
      <dgm:t>
        <a:bodyPr/>
        <a:lstStyle/>
        <a:p>
          <a:endParaRPr lang="en-IN"/>
        </a:p>
      </dgm:t>
    </dgm:pt>
    <dgm:pt modelId="{DF74FA5B-0637-49EC-9222-CB0898A8F452}" type="pres">
      <dgm:prSet presAssocID="{4D1D90C3-D4C0-4156-A98E-737590FC733C}" presName="Name0" presStyleCnt="0">
        <dgm:presLayoutVars>
          <dgm:dir/>
          <dgm:animLvl val="lvl"/>
          <dgm:resizeHandles val="exact"/>
        </dgm:presLayoutVars>
      </dgm:prSet>
      <dgm:spPr/>
    </dgm:pt>
    <dgm:pt modelId="{F78DD9E1-6CE7-4198-934C-783A9B9FECB0}" type="pres">
      <dgm:prSet presAssocID="{34E71137-82F8-4914-B1DA-92E83E6336E9}" presName="linNode" presStyleCnt="0"/>
      <dgm:spPr/>
    </dgm:pt>
    <dgm:pt modelId="{BA466D63-40C0-41DF-9FFB-9347D30A7F3A}" type="pres">
      <dgm:prSet presAssocID="{34E71137-82F8-4914-B1DA-92E83E6336E9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46F97DBA-33B2-4701-9A0C-9692291E084B}" type="pres">
      <dgm:prSet presAssocID="{34E71137-82F8-4914-B1DA-92E83E6336E9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F44B8704-9233-4D20-A6F8-148D60C91F19}" srcId="{34E71137-82F8-4914-B1DA-92E83E6336E9}" destId="{F6FE344D-45D3-4625-AEC3-A5A8614EA797}" srcOrd="0" destOrd="0" parTransId="{27C4AF1B-247A-4775-AC1A-567F7AC9778A}" sibTransId="{C6BDC197-ACA3-451F-BB37-BB9EA130912F}"/>
    <dgm:cxn modelId="{88FC6124-7BF5-4FA4-94E7-07C1DC03E785}" type="presOf" srcId="{E4717580-E4A1-452B-B998-1DC69B3D15EC}" destId="{46F97DBA-33B2-4701-9A0C-9692291E084B}" srcOrd="0" destOrd="3" presId="urn:microsoft.com/office/officeart/2005/8/layout/vList5"/>
    <dgm:cxn modelId="{3AB2F528-B7AA-443D-A17D-57DF3C83BB35}" srcId="{34E71137-82F8-4914-B1DA-92E83E6336E9}" destId="{7EF1130F-2554-4F44-90CB-744ECA42EAE8}" srcOrd="1" destOrd="0" parTransId="{919D991A-6F97-4916-A8A3-0BF3CAE56C33}" sibTransId="{BF051E59-1750-4093-9652-62701F68A2BD}"/>
    <dgm:cxn modelId="{47EBDD37-BA18-436D-9030-1E14A3215FCA}" srcId="{4D1D90C3-D4C0-4156-A98E-737590FC733C}" destId="{34E71137-82F8-4914-B1DA-92E83E6336E9}" srcOrd="0" destOrd="0" parTransId="{1046F09C-C4D9-4609-86C9-E5E8576FE304}" sibTransId="{3CD61CA5-0C2C-4254-BF96-49FBEA01B5FA}"/>
    <dgm:cxn modelId="{C6830D4B-B83B-4614-989C-8AB95A119535}" type="presOf" srcId="{4D1D90C3-D4C0-4156-A98E-737590FC733C}" destId="{DF74FA5B-0637-49EC-9222-CB0898A8F452}" srcOrd="0" destOrd="0" presId="urn:microsoft.com/office/officeart/2005/8/layout/vList5"/>
    <dgm:cxn modelId="{2398CE71-E32B-4198-810D-C00A052C8EB8}" type="presOf" srcId="{16FAEACD-F5FC-4D5D-A3E5-003930D846E9}" destId="{46F97DBA-33B2-4701-9A0C-9692291E084B}" srcOrd="0" destOrd="4" presId="urn:microsoft.com/office/officeart/2005/8/layout/vList5"/>
    <dgm:cxn modelId="{D2CFF979-2377-4AEB-BFD2-4751170F7D64}" type="presOf" srcId="{34E71137-82F8-4914-B1DA-92E83E6336E9}" destId="{BA466D63-40C0-41DF-9FFB-9347D30A7F3A}" srcOrd="0" destOrd="0" presId="urn:microsoft.com/office/officeart/2005/8/layout/vList5"/>
    <dgm:cxn modelId="{37F0325A-0D63-4DAF-BE86-5C5DA23BDEF4}" type="presOf" srcId="{7B17FD89-9FA8-472A-8A39-939E5AA429E4}" destId="{46F97DBA-33B2-4701-9A0C-9692291E084B}" srcOrd="0" destOrd="2" presId="urn:microsoft.com/office/officeart/2005/8/layout/vList5"/>
    <dgm:cxn modelId="{B0D09EA8-B7B6-4469-9790-B2163273C019}" srcId="{34E71137-82F8-4914-B1DA-92E83E6336E9}" destId="{16FAEACD-F5FC-4D5D-A3E5-003930D846E9}" srcOrd="4" destOrd="0" parTransId="{A209E3E4-D4CD-4F92-A455-D31C99E99DED}" sibTransId="{1460B5B2-95BB-4F1F-A754-2F935525F341}"/>
    <dgm:cxn modelId="{3CE2EDA9-2F7F-43F4-8F0C-C9A13EC5DCF8}" type="presOf" srcId="{7EF1130F-2554-4F44-90CB-744ECA42EAE8}" destId="{46F97DBA-33B2-4701-9A0C-9692291E084B}" srcOrd="0" destOrd="1" presId="urn:microsoft.com/office/officeart/2005/8/layout/vList5"/>
    <dgm:cxn modelId="{998709D7-E07F-4FF9-BE9D-F3AACE5BF886}" srcId="{34E71137-82F8-4914-B1DA-92E83E6336E9}" destId="{E4717580-E4A1-452B-B998-1DC69B3D15EC}" srcOrd="3" destOrd="0" parTransId="{684035A9-CBE6-4504-89F8-359AE404F29D}" sibTransId="{182E3843-BA61-4BAE-874C-394BB216AF19}"/>
    <dgm:cxn modelId="{1A3A88EE-A1C8-4309-BF5A-E47F639B7011}" srcId="{34E71137-82F8-4914-B1DA-92E83E6336E9}" destId="{7B17FD89-9FA8-472A-8A39-939E5AA429E4}" srcOrd="2" destOrd="0" parTransId="{F699C3A6-F9FB-4954-B2B1-3C3376434EFB}" sibTransId="{89E64BAA-978B-4892-AFA5-3955E73C9571}"/>
    <dgm:cxn modelId="{708C92FF-05A2-4F19-BADB-18E66E7AB0E3}" type="presOf" srcId="{F6FE344D-45D3-4625-AEC3-A5A8614EA797}" destId="{46F97DBA-33B2-4701-9A0C-9692291E084B}" srcOrd="0" destOrd="0" presId="urn:microsoft.com/office/officeart/2005/8/layout/vList5"/>
    <dgm:cxn modelId="{CDE235F5-D0CA-460C-A60D-7657DE23EED8}" type="presParOf" srcId="{DF74FA5B-0637-49EC-9222-CB0898A8F452}" destId="{F78DD9E1-6CE7-4198-934C-783A9B9FECB0}" srcOrd="0" destOrd="0" presId="urn:microsoft.com/office/officeart/2005/8/layout/vList5"/>
    <dgm:cxn modelId="{CD0C137F-CDD0-443B-9EF8-E27F3DF5D216}" type="presParOf" srcId="{F78DD9E1-6CE7-4198-934C-783A9B9FECB0}" destId="{BA466D63-40C0-41DF-9FFB-9347D30A7F3A}" srcOrd="0" destOrd="0" presId="urn:microsoft.com/office/officeart/2005/8/layout/vList5"/>
    <dgm:cxn modelId="{3F0290DF-436E-45E9-8189-FE504E7ECDA3}" type="presParOf" srcId="{F78DD9E1-6CE7-4198-934C-783A9B9FECB0}" destId="{46F97DBA-33B2-4701-9A0C-9692291E084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5F782E-B352-4FC5-BBCE-045FCA5D413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661EE96-50AE-4049-97EF-5C33E5B6FD64}">
      <dgm:prSet/>
      <dgm:spPr/>
      <dgm:t>
        <a:bodyPr/>
        <a:lstStyle/>
        <a:p>
          <a:r>
            <a:rPr lang="en-GB" b="0" i="0" baseline="0"/>
            <a:t>Removed nulls and duplicates.</a:t>
          </a:r>
          <a:endParaRPr lang="en-IN"/>
        </a:p>
      </dgm:t>
    </dgm:pt>
    <dgm:pt modelId="{556131AD-37E6-4447-9F25-474DB6289DCD}" type="parTrans" cxnId="{DD57D886-463E-4AA2-AF83-6D545275EDDE}">
      <dgm:prSet/>
      <dgm:spPr/>
      <dgm:t>
        <a:bodyPr/>
        <a:lstStyle/>
        <a:p>
          <a:endParaRPr lang="en-IN"/>
        </a:p>
      </dgm:t>
    </dgm:pt>
    <dgm:pt modelId="{35897F19-6CE8-48BC-B7D9-6045825809B1}" type="sibTrans" cxnId="{DD57D886-463E-4AA2-AF83-6D545275EDDE}">
      <dgm:prSet/>
      <dgm:spPr/>
      <dgm:t>
        <a:bodyPr/>
        <a:lstStyle/>
        <a:p>
          <a:endParaRPr lang="en-IN"/>
        </a:p>
      </dgm:t>
    </dgm:pt>
    <dgm:pt modelId="{ECFE9BD5-CE0B-495A-BA1D-D4C7B80ECBE0}">
      <dgm:prSet/>
      <dgm:spPr/>
      <dgm:t>
        <a:bodyPr/>
        <a:lstStyle/>
        <a:p>
          <a:r>
            <a:rPr lang="en-GB" b="0" i="0" baseline="0"/>
            <a:t>Standardized data types (Date, Whole Number).</a:t>
          </a:r>
          <a:endParaRPr lang="en-IN"/>
        </a:p>
      </dgm:t>
    </dgm:pt>
    <dgm:pt modelId="{B31CA5E2-00F7-4A01-9F84-394F93FE0526}" type="parTrans" cxnId="{F4371EA6-B2F5-4534-BB30-8E3200A88CD2}">
      <dgm:prSet/>
      <dgm:spPr/>
      <dgm:t>
        <a:bodyPr/>
        <a:lstStyle/>
        <a:p>
          <a:endParaRPr lang="en-IN"/>
        </a:p>
      </dgm:t>
    </dgm:pt>
    <dgm:pt modelId="{D44890ED-9651-43FB-BEA3-E703FB531FDC}" type="sibTrans" cxnId="{F4371EA6-B2F5-4534-BB30-8E3200A88CD2}">
      <dgm:prSet/>
      <dgm:spPr/>
      <dgm:t>
        <a:bodyPr/>
        <a:lstStyle/>
        <a:p>
          <a:endParaRPr lang="en-IN"/>
        </a:p>
      </dgm:t>
    </dgm:pt>
    <dgm:pt modelId="{576A9867-49B7-4148-8C8F-1F46BC2DCE8D}">
      <dgm:prSet/>
      <dgm:spPr/>
      <dgm:t>
        <a:bodyPr/>
        <a:lstStyle/>
        <a:p>
          <a:r>
            <a:rPr lang="en-GB" b="0" i="0" baseline="0"/>
            <a:t>Created Year, Month, Month Name columns.</a:t>
          </a:r>
          <a:endParaRPr lang="en-IN"/>
        </a:p>
      </dgm:t>
    </dgm:pt>
    <dgm:pt modelId="{7D4D412E-F2AC-456C-B12D-DC7A2A32780E}" type="parTrans" cxnId="{61AB6073-A291-4485-92CA-890CEBF161F9}">
      <dgm:prSet/>
      <dgm:spPr/>
      <dgm:t>
        <a:bodyPr/>
        <a:lstStyle/>
        <a:p>
          <a:endParaRPr lang="en-IN"/>
        </a:p>
      </dgm:t>
    </dgm:pt>
    <dgm:pt modelId="{C4CE1E41-8A80-4AE9-B7F9-0E77729434E0}" type="sibTrans" cxnId="{61AB6073-A291-4485-92CA-890CEBF161F9}">
      <dgm:prSet/>
      <dgm:spPr/>
      <dgm:t>
        <a:bodyPr/>
        <a:lstStyle/>
        <a:p>
          <a:endParaRPr lang="en-IN"/>
        </a:p>
      </dgm:t>
    </dgm:pt>
    <dgm:pt modelId="{E0A4C6D7-9254-4566-9297-CD2AA9F24842}">
      <dgm:prSet/>
      <dgm:spPr/>
      <dgm:t>
        <a:bodyPr/>
        <a:lstStyle/>
        <a:p>
          <a:r>
            <a:rPr lang="en-GB" b="0" i="0" baseline="0"/>
            <a:t>Created Delay Category (On-Time, Minor, Major).</a:t>
          </a:r>
          <a:endParaRPr lang="en-IN"/>
        </a:p>
      </dgm:t>
    </dgm:pt>
    <dgm:pt modelId="{6DC023DD-2569-4E98-A368-93EEA4CB2FA4}" type="parTrans" cxnId="{5FD39064-BE51-4AE4-962F-53299469BAEF}">
      <dgm:prSet/>
      <dgm:spPr/>
      <dgm:t>
        <a:bodyPr/>
        <a:lstStyle/>
        <a:p>
          <a:endParaRPr lang="en-IN"/>
        </a:p>
      </dgm:t>
    </dgm:pt>
    <dgm:pt modelId="{3D945CC6-6DA6-4B67-BA3C-070AE0437B8B}" type="sibTrans" cxnId="{5FD39064-BE51-4AE4-962F-53299469BAEF}">
      <dgm:prSet/>
      <dgm:spPr/>
      <dgm:t>
        <a:bodyPr/>
        <a:lstStyle/>
        <a:p>
          <a:endParaRPr lang="en-IN"/>
        </a:p>
      </dgm:t>
    </dgm:pt>
    <dgm:pt modelId="{1CE167EE-F102-4847-B00C-B93941D36B35}">
      <dgm:prSet/>
      <dgm:spPr/>
      <dgm:t>
        <a:bodyPr/>
        <a:lstStyle/>
        <a:p>
          <a:r>
            <a:rPr lang="en-GB" b="0" i="0" baseline="0"/>
            <a:t>Ensured a clean and reliable dataset for modelling.</a:t>
          </a:r>
          <a:endParaRPr lang="en-IN"/>
        </a:p>
      </dgm:t>
    </dgm:pt>
    <dgm:pt modelId="{D60815E4-2246-48E8-B93B-95B06C1942F8}" type="parTrans" cxnId="{14599E82-09C8-4A6A-9C6A-74C4E7C421D0}">
      <dgm:prSet/>
      <dgm:spPr/>
      <dgm:t>
        <a:bodyPr/>
        <a:lstStyle/>
        <a:p>
          <a:endParaRPr lang="en-IN"/>
        </a:p>
      </dgm:t>
    </dgm:pt>
    <dgm:pt modelId="{D450403D-570F-4EC8-A764-204458F11948}" type="sibTrans" cxnId="{14599E82-09C8-4A6A-9C6A-74C4E7C421D0}">
      <dgm:prSet/>
      <dgm:spPr/>
      <dgm:t>
        <a:bodyPr/>
        <a:lstStyle/>
        <a:p>
          <a:endParaRPr lang="en-IN"/>
        </a:p>
      </dgm:t>
    </dgm:pt>
    <dgm:pt modelId="{57163C59-A011-48E8-8046-AD3BA404A713}" type="pres">
      <dgm:prSet presAssocID="{975F782E-B352-4FC5-BBCE-045FCA5D413E}" presName="Name0" presStyleCnt="0">
        <dgm:presLayoutVars>
          <dgm:dir/>
          <dgm:animLvl val="lvl"/>
          <dgm:resizeHandles val="exact"/>
        </dgm:presLayoutVars>
      </dgm:prSet>
      <dgm:spPr/>
    </dgm:pt>
    <dgm:pt modelId="{99588725-D9E0-4418-9813-D9FE3BE2924D}" type="pres">
      <dgm:prSet presAssocID="{C661EE96-50AE-4049-97EF-5C33E5B6FD64}" presName="composite" presStyleCnt="0"/>
      <dgm:spPr/>
    </dgm:pt>
    <dgm:pt modelId="{059B0A33-4ED2-4A3F-A516-12EAEA83C817}" type="pres">
      <dgm:prSet presAssocID="{C661EE96-50AE-4049-97EF-5C33E5B6FD64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8693F13A-8D88-4205-9F87-CF3689972AAD}" type="pres">
      <dgm:prSet presAssocID="{C661EE96-50AE-4049-97EF-5C33E5B6FD64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75613732-72DC-46EF-A605-A669EB107ED6}" type="presOf" srcId="{C661EE96-50AE-4049-97EF-5C33E5B6FD64}" destId="{059B0A33-4ED2-4A3F-A516-12EAEA83C817}" srcOrd="0" destOrd="0" presId="urn:microsoft.com/office/officeart/2005/8/layout/hList1"/>
    <dgm:cxn modelId="{E6A0DD5E-17E0-4BBD-AF8A-6FA19677C5A6}" type="presOf" srcId="{E0A4C6D7-9254-4566-9297-CD2AA9F24842}" destId="{8693F13A-8D88-4205-9F87-CF3689972AAD}" srcOrd="0" destOrd="2" presId="urn:microsoft.com/office/officeart/2005/8/layout/hList1"/>
    <dgm:cxn modelId="{5FD39064-BE51-4AE4-962F-53299469BAEF}" srcId="{C661EE96-50AE-4049-97EF-5C33E5B6FD64}" destId="{E0A4C6D7-9254-4566-9297-CD2AA9F24842}" srcOrd="2" destOrd="0" parTransId="{6DC023DD-2569-4E98-A368-93EEA4CB2FA4}" sibTransId="{3D945CC6-6DA6-4B67-BA3C-070AE0437B8B}"/>
    <dgm:cxn modelId="{61AB6073-A291-4485-92CA-890CEBF161F9}" srcId="{C661EE96-50AE-4049-97EF-5C33E5B6FD64}" destId="{576A9867-49B7-4148-8C8F-1F46BC2DCE8D}" srcOrd="1" destOrd="0" parTransId="{7D4D412E-F2AC-456C-B12D-DC7A2A32780E}" sibTransId="{C4CE1E41-8A80-4AE9-B7F9-0E77729434E0}"/>
    <dgm:cxn modelId="{A817FE75-3532-485E-8BFE-16FDA23F842E}" type="presOf" srcId="{1CE167EE-F102-4847-B00C-B93941D36B35}" destId="{8693F13A-8D88-4205-9F87-CF3689972AAD}" srcOrd="0" destOrd="3" presId="urn:microsoft.com/office/officeart/2005/8/layout/hList1"/>
    <dgm:cxn modelId="{14599E82-09C8-4A6A-9C6A-74C4E7C421D0}" srcId="{C661EE96-50AE-4049-97EF-5C33E5B6FD64}" destId="{1CE167EE-F102-4847-B00C-B93941D36B35}" srcOrd="3" destOrd="0" parTransId="{D60815E4-2246-48E8-B93B-95B06C1942F8}" sibTransId="{D450403D-570F-4EC8-A764-204458F11948}"/>
    <dgm:cxn modelId="{DD57D886-463E-4AA2-AF83-6D545275EDDE}" srcId="{975F782E-B352-4FC5-BBCE-045FCA5D413E}" destId="{C661EE96-50AE-4049-97EF-5C33E5B6FD64}" srcOrd="0" destOrd="0" parTransId="{556131AD-37E6-4447-9F25-474DB6289DCD}" sibTransId="{35897F19-6CE8-48BC-B7D9-6045825809B1}"/>
    <dgm:cxn modelId="{F4371EA6-B2F5-4534-BB30-8E3200A88CD2}" srcId="{C661EE96-50AE-4049-97EF-5C33E5B6FD64}" destId="{ECFE9BD5-CE0B-495A-BA1D-D4C7B80ECBE0}" srcOrd="0" destOrd="0" parTransId="{B31CA5E2-00F7-4A01-9F84-394F93FE0526}" sibTransId="{D44890ED-9651-43FB-BEA3-E703FB531FDC}"/>
    <dgm:cxn modelId="{12CE24B1-59D1-41E8-93B7-C0E722881E64}" type="presOf" srcId="{ECFE9BD5-CE0B-495A-BA1D-D4C7B80ECBE0}" destId="{8693F13A-8D88-4205-9F87-CF3689972AAD}" srcOrd="0" destOrd="0" presId="urn:microsoft.com/office/officeart/2005/8/layout/hList1"/>
    <dgm:cxn modelId="{F33F67E5-15F4-4B40-A22A-3D65A0BADE9A}" type="presOf" srcId="{975F782E-B352-4FC5-BBCE-045FCA5D413E}" destId="{57163C59-A011-48E8-8046-AD3BA404A713}" srcOrd="0" destOrd="0" presId="urn:microsoft.com/office/officeart/2005/8/layout/hList1"/>
    <dgm:cxn modelId="{78AE0DE7-1D7D-4FF3-AA29-8691B950FED9}" type="presOf" srcId="{576A9867-49B7-4148-8C8F-1F46BC2DCE8D}" destId="{8693F13A-8D88-4205-9F87-CF3689972AAD}" srcOrd="0" destOrd="1" presId="urn:microsoft.com/office/officeart/2005/8/layout/hList1"/>
    <dgm:cxn modelId="{9DBE1337-EF55-43B1-A7F1-111FEAF7EA61}" type="presParOf" srcId="{57163C59-A011-48E8-8046-AD3BA404A713}" destId="{99588725-D9E0-4418-9813-D9FE3BE2924D}" srcOrd="0" destOrd="0" presId="urn:microsoft.com/office/officeart/2005/8/layout/hList1"/>
    <dgm:cxn modelId="{DB9F87F3-CE3B-4D0F-A875-4D3D7B00AE35}" type="presParOf" srcId="{99588725-D9E0-4418-9813-D9FE3BE2924D}" destId="{059B0A33-4ED2-4A3F-A516-12EAEA83C817}" srcOrd="0" destOrd="0" presId="urn:microsoft.com/office/officeart/2005/8/layout/hList1"/>
    <dgm:cxn modelId="{173A811D-086F-4552-9C9C-EBEB22F983BB}" type="presParOf" srcId="{99588725-D9E0-4418-9813-D9FE3BE2924D}" destId="{8693F13A-8D88-4205-9F87-CF3689972AA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75F782E-B352-4FC5-BBCE-045FCA5D413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661EE96-50AE-4049-97EF-5C33E5B6FD64}">
      <dgm:prSet/>
      <dgm:spPr/>
      <dgm:t>
        <a:bodyPr/>
        <a:lstStyle/>
        <a:p>
          <a:r>
            <a:rPr lang="en-IN" dirty="0"/>
            <a:t>airlines</a:t>
          </a:r>
        </a:p>
      </dgm:t>
    </dgm:pt>
    <dgm:pt modelId="{556131AD-37E6-4447-9F25-474DB6289DCD}" type="parTrans" cxnId="{DD57D886-463E-4AA2-AF83-6D545275EDDE}">
      <dgm:prSet/>
      <dgm:spPr/>
      <dgm:t>
        <a:bodyPr/>
        <a:lstStyle/>
        <a:p>
          <a:endParaRPr lang="en-IN"/>
        </a:p>
      </dgm:t>
    </dgm:pt>
    <dgm:pt modelId="{35897F19-6CE8-48BC-B7D9-6045825809B1}" type="sibTrans" cxnId="{DD57D886-463E-4AA2-AF83-6D545275EDDE}">
      <dgm:prSet/>
      <dgm:spPr/>
      <dgm:t>
        <a:bodyPr/>
        <a:lstStyle/>
        <a:p>
          <a:endParaRPr lang="en-IN"/>
        </a:p>
      </dgm:t>
    </dgm:pt>
    <dgm:pt modelId="{ECFE9BD5-CE0B-495A-BA1D-D4C7B80ECBE0}">
      <dgm:prSet/>
      <dgm:spPr/>
      <dgm:t>
        <a:bodyPr/>
        <a:lstStyle/>
        <a:p>
          <a:endParaRPr lang="en-IN" dirty="0"/>
        </a:p>
      </dgm:t>
    </dgm:pt>
    <dgm:pt modelId="{B31CA5E2-00F7-4A01-9F84-394F93FE0526}" type="parTrans" cxnId="{F4371EA6-B2F5-4534-BB30-8E3200A88CD2}">
      <dgm:prSet/>
      <dgm:spPr/>
      <dgm:t>
        <a:bodyPr/>
        <a:lstStyle/>
        <a:p>
          <a:endParaRPr lang="en-IN"/>
        </a:p>
      </dgm:t>
    </dgm:pt>
    <dgm:pt modelId="{D44890ED-9651-43FB-BEA3-E703FB531FDC}" type="sibTrans" cxnId="{F4371EA6-B2F5-4534-BB30-8E3200A88CD2}">
      <dgm:prSet/>
      <dgm:spPr/>
      <dgm:t>
        <a:bodyPr/>
        <a:lstStyle/>
        <a:p>
          <a:endParaRPr lang="en-IN"/>
        </a:p>
      </dgm:t>
    </dgm:pt>
    <dgm:pt modelId="{57163C59-A011-48E8-8046-AD3BA404A713}" type="pres">
      <dgm:prSet presAssocID="{975F782E-B352-4FC5-BBCE-045FCA5D413E}" presName="Name0" presStyleCnt="0">
        <dgm:presLayoutVars>
          <dgm:dir/>
          <dgm:animLvl val="lvl"/>
          <dgm:resizeHandles val="exact"/>
        </dgm:presLayoutVars>
      </dgm:prSet>
      <dgm:spPr/>
    </dgm:pt>
    <dgm:pt modelId="{99588725-D9E0-4418-9813-D9FE3BE2924D}" type="pres">
      <dgm:prSet presAssocID="{C661EE96-50AE-4049-97EF-5C33E5B6FD64}" presName="composite" presStyleCnt="0"/>
      <dgm:spPr/>
    </dgm:pt>
    <dgm:pt modelId="{059B0A33-4ED2-4A3F-A516-12EAEA83C817}" type="pres">
      <dgm:prSet presAssocID="{C661EE96-50AE-4049-97EF-5C33E5B6FD64}" presName="parTx" presStyleLbl="alignNode1" presStyleIdx="0" presStyleCnt="1" custLinFactNeighborX="-13762" custLinFactNeighborY="4327">
        <dgm:presLayoutVars>
          <dgm:chMax val="0"/>
          <dgm:chPref val="0"/>
          <dgm:bulletEnabled val="1"/>
        </dgm:presLayoutVars>
      </dgm:prSet>
      <dgm:spPr/>
    </dgm:pt>
    <dgm:pt modelId="{8693F13A-8D88-4205-9F87-CF3689972AAD}" type="pres">
      <dgm:prSet presAssocID="{C661EE96-50AE-4049-97EF-5C33E5B6FD64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75613732-72DC-46EF-A605-A669EB107ED6}" type="presOf" srcId="{C661EE96-50AE-4049-97EF-5C33E5B6FD64}" destId="{059B0A33-4ED2-4A3F-A516-12EAEA83C817}" srcOrd="0" destOrd="0" presId="urn:microsoft.com/office/officeart/2005/8/layout/hList1"/>
    <dgm:cxn modelId="{DD57D886-463E-4AA2-AF83-6D545275EDDE}" srcId="{975F782E-B352-4FC5-BBCE-045FCA5D413E}" destId="{C661EE96-50AE-4049-97EF-5C33E5B6FD64}" srcOrd="0" destOrd="0" parTransId="{556131AD-37E6-4447-9F25-474DB6289DCD}" sibTransId="{35897F19-6CE8-48BC-B7D9-6045825809B1}"/>
    <dgm:cxn modelId="{F4371EA6-B2F5-4534-BB30-8E3200A88CD2}" srcId="{C661EE96-50AE-4049-97EF-5C33E5B6FD64}" destId="{ECFE9BD5-CE0B-495A-BA1D-D4C7B80ECBE0}" srcOrd="0" destOrd="0" parTransId="{B31CA5E2-00F7-4A01-9F84-394F93FE0526}" sibTransId="{D44890ED-9651-43FB-BEA3-E703FB531FDC}"/>
    <dgm:cxn modelId="{12CE24B1-59D1-41E8-93B7-C0E722881E64}" type="presOf" srcId="{ECFE9BD5-CE0B-495A-BA1D-D4C7B80ECBE0}" destId="{8693F13A-8D88-4205-9F87-CF3689972AAD}" srcOrd="0" destOrd="0" presId="urn:microsoft.com/office/officeart/2005/8/layout/hList1"/>
    <dgm:cxn modelId="{F33F67E5-15F4-4B40-A22A-3D65A0BADE9A}" type="presOf" srcId="{975F782E-B352-4FC5-BBCE-045FCA5D413E}" destId="{57163C59-A011-48E8-8046-AD3BA404A713}" srcOrd="0" destOrd="0" presId="urn:microsoft.com/office/officeart/2005/8/layout/hList1"/>
    <dgm:cxn modelId="{9DBE1337-EF55-43B1-A7F1-111FEAF7EA61}" type="presParOf" srcId="{57163C59-A011-48E8-8046-AD3BA404A713}" destId="{99588725-D9E0-4418-9813-D9FE3BE2924D}" srcOrd="0" destOrd="0" presId="urn:microsoft.com/office/officeart/2005/8/layout/hList1"/>
    <dgm:cxn modelId="{DB9F87F3-CE3B-4D0F-A875-4D3D7B00AE35}" type="presParOf" srcId="{99588725-D9E0-4418-9813-D9FE3BE2924D}" destId="{059B0A33-4ED2-4A3F-A516-12EAEA83C817}" srcOrd="0" destOrd="0" presId="urn:microsoft.com/office/officeart/2005/8/layout/hList1"/>
    <dgm:cxn modelId="{173A811D-086F-4552-9C9C-EBEB22F983BB}" type="presParOf" srcId="{99588725-D9E0-4418-9813-D9FE3BE2924D}" destId="{8693F13A-8D88-4205-9F87-CF3689972AA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75F782E-B352-4FC5-BBCE-045FCA5D413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CFE9BD5-CE0B-495A-BA1D-D4C7B80ECBE0}">
      <dgm:prSet/>
      <dgm:spPr/>
      <dgm:t>
        <a:bodyPr/>
        <a:lstStyle/>
        <a:p>
          <a:endParaRPr lang="en-IN" dirty="0"/>
        </a:p>
      </dgm:t>
    </dgm:pt>
    <dgm:pt modelId="{B31CA5E2-00F7-4A01-9F84-394F93FE0526}" type="parTrans" cxnId="{F4371EA6-B2F5-4534-BB30-8E3200A88CD2}">
      <dgm:prSet/>
      <dgm:spPr/>
      <dgm:t>
        <a:bodyPr/>
        <a:lstStyle/>
        <a:p>
          <a:endParaRPr lang="en-IN"/>
        </a:p>
      </dgm:t>
    </dgm:pt>
    <dgm:pt modelId="{D44890ED-9651-43FB-BEA3-E703FB531FDC}" type="sibTrans" cxnId="{F4371EA6-B2F5-4534-BB30-8E3200A88CD2}">
      <dgm:prSet/>
      <dgm:spPr/>
      <dgm:t>
        <a:bodyPr/>
        <a:lstStyle/>
        <a:p>
          <a:endParaRPr lang="en-IN"/>
        </a:p>
      </dgm:t>
    </dgm:pt>
    <dgm:pt modelId="{C661EE96-50AE-4049-97EF-5C33E5B6FD64}">
      <dgm:prSet custT="1"/>
      <dgm:spPr/>
      <dgm:t>
        <a:bodyPr/>
        <a:lstStyle/>
        <a:p>
          <a:r>
            <a:rPr lang="en-IN" sz="2800" dirty="0"/>
            <a:t>airport</a:t>
          </a:r>
        </a:p>
      </dgm:t>
    </dgm:pt>
    <dgm:pt modelId="{35897F19-6CE8-48BC-B7D9-6045825809B1}" type="sibTrans" cxnId="{DD57D886-463E-4AA2-AF83-6D545275EDDE}">
      <dgm:prSet/>
      <dgm:spPr/>
      <dgm:t>
        <a:bodyPr/>
        <a:lstStyle/>
        <a:p>
          <a:endParaRPr lang="en-IN"/>
        </a:p>
      </dgm:t>
    </dgm:pt>
    <dgm:pt modelId="{556131AD-37E6-4447-9F25-474DB6289DCD}" type="parTrans" cxnId="{DD57D886-463E-4AA2-AF83-6D545275EDDE}">
      <dgm:prSet/>
      <dgm:spPr/>
      <dgm:t>
        <a:bodyPr/>
        <a:lstStyle/>
        <a:p>
          <a:endParaRPr lang="en-IN"/>
        </a:p>
      </dgm:t>
    </dgm:pt>
    <dgm:pt modelId="{57163C59-A011-48E8-8046-AD3BA404A713}" type="pres">
      <dgm:prSet presAssocID="{975F782E-B352-4FC5-BBCE-045FCA5D413E}" presName="Name0" presStyleCnt="0">
        <dgm:presLayoutVars>
          <dgm:dir/>
          <dgm:animLvl val="lvl"/>
          <dgm:resizeHandles val="exact"/>
        </dgm:presLayoutVars>
      </dgm:prSet>
      <dgm:spPr/>
    </dgm:pt>
    <dgm:pt modelId="{99588725-D9E0-4418-9813-D9FE3BE2924D}" type="pres">
      <dgm:prSet presAssocID="{C661EE96-50AE-4049-97EF-5C33E5B6FD64}" presName="composite" presStyleCnt="0"/>
      <dgm:spPr/>
    </dgm:pt>
    <dgm:pt modelId="{059B0A33-4ED2-4A3F-A516-12EAEA83C817}" type="pres">
      <dgm:prSet presAssocID="{C661EE96-50AE-4049-97EF-5C33E5B6FD64}" presName="parTx" presStyleLbl="alignNode1" presStyleIdx="0" presStyleCnt="1" custLinFactNeighborX="-42018" custLinFactNeighborY="-11759">
        <dgm:presLayoutVars>
          <dgm:chMax val="0"/>
          <dgm:chPref val="0"/>
          <dgm:bulletEnabled val="1"/>
        </dgm:presLayoutVars>
      </dgm:prSet>
      <dgm:spPr/>
    </dgm:pt>
    <dgm:pt modelId="{8693F13A-8D88-4205-9F87-CF3689972AAD}" type="pres">
      <dgm:prSet presAssocID="{C661EE96-50AE-4049-97EF-5C33E5B6FD64}" presName="desTx" presStyleLbl="alignAccFollowNode1" presStyleIdx="0" presStyleCnt="1" custLinFactNeighborX="2871" custLinFactNeighborY="2400">
        <dgm:presLayoutVars>
          <dgm:bulletEnabled val="1"/>
        </dgm:presLayoutVars>
      </dgm:prSet>
      <dgm:spPr/>
    </dgm:pt>
  </dgm:ptLst>
  <dgm:cxnLst>
    <dgm:cxn modelId="{75613732-72DC-46EF-A605-A669EB107ED6}" type="presOf" srcId="{C661EE96-50AE-4049-97EF-5C33E5B6FD64}" destId="{059B0A33-4ED2-4A3F-A516-12EAEA83C817}" srcOrd="0" destOrd="0" presId="urn:microsoft.com/office/officeart/2005/8/layout/hList1"/>
    <dgm:cxn modelId="{DD57D886-463E-4AA2-AF83-6D545275EDDE}" srcId="{975F782E-B352-4FC5-BBCE-045FCA5D413E}" destId="{C661EE96-50AE-4049-97EF-5C33E5B6FD64}" srcOrd="0" destOrd="0" parTransId="{556131AD-37E6-4447-9F25-474DB6289DCD}" sibTransId="{35897F19-6CE8-48BC-B7D9-6045825809B1}"/>
    <dgm:cxn modelId="{F4371EA6-B2F5-4534-BB30-8E3200A88CD2}" srcId="{C661EE96-50AE-4049-97EF-5C33E5B6FD64}" destId="{ECFE9BD5-CE0B-495A-BA1D-D4C7B80ECBE0}" srcOrd="0" destOrd="0" parTransId="{B31CA5E2-00F7-4A01-9F84-394F93FE0526}" sibTransId="{D44890ED-9651-43FB-BEA3-E703FB531FDC}"/>
    <dgm:cxn modelId="{12CE24B1-59D1-41E8-93B7-C0E722881E64}" type="presOf" srcId="{ECFE9BD5-CE0B-495A-BA1D-D4C7B80ECBE0}" destId="{8693F13A-8D88-4205-9F87-CF3689972AAD}" srcOrd="0" destOrd="0" presId="urn:microsoft.com/office/officeart/2005/8/layout/hList1"/>
    <dgm:cxn modelId="{F33F67E5-15F4-4B40-A22A-3D65A0BADE9A}" type="presOf" srcId="{975F782E-B352-4FC5-BBCE-045FCA5D413E}" destId="{57163C59-A011-48E8-8046-AD3BA404A713}" srcOrd="0" destOrd="0" presId="urn:microsoft.com/office/officeart/2005/8/layout/hList1"/>
    <dgm:cxn modelId="{9DBE1337-EF55-43B1-A7F1-111FEAF7EA61}" type="presParOf" srcId="{57163C59-A011-48E8-8046-AD3BA404A713}" destId="{99588725-D9E0-4418-9813-D9FE3BE2924D}" srcOrd="0" destOrd="0" presId="urn:microsoft.com/office/officeart/2005/8/layout/hList1"/>
    <dgm:cxn modelId="{DB9F87F3-CE3B-4D0F-A875-4D3D7B00AE35}" type="presParOf" srcId="{99588725-D9E0-4418-9813-D9FE3BE2924D}" destId="{059B0A33-4ED2-4A3F-A516-12EAEA83C817}" srcOrd="0" destOrd="0" presId="urn:microsoft.com/office/officeart/2005/8/layout/hList1"/>
    <dgm:cxn modelId="{173A811D-086F-4552-9C9C-EBEB22F983BB}" type="presParOf" srcId="{99588725-D9E0-4418-9813-D9FE3BE2924D}" destId="{8693F13A-8D88-4205-9F87-CF3689972AA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75F782E-B352-4FC5-BBCE-045FCA5D413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CFE9BD5-CE0B-495A-BA1D-D4C7B80ECBE0}">
      <dgm:prSet/>
      <dgm:spPr/>
      <dgm:t>
        <a:bodyPr/>
        <a:lstStyle/>
        <a:p>
          <a:endParaRPr lang="en-IN" dirty="0"/>
        </a:p>
      </dgm:t>
    </dgm:pt>
    <dgm:pt modelId="{B31CA5E2-00F7-4A01-9F84-394F93FE0526}" type="parTrans" cxnId="{F4371EA6-B2F5-4534-BB30-8E3200A88CD2}">
      <dgm:prSet/>
      <dgm:spPr/>
      <dgm:t>
        <a:bodyPr/>
        <a:lstStyle/>
        <a:p>
          <a:endParaRPr lang="en-IN"/>
        </a:p>
      </dgm:t>
    </dgm:pt>
    <dgm:pt modelId="{D44890ED-9651-43FB-BEA3-E703FB531FDC}" type="sibTrans" cxnId="{F4371EA6-B2F5-4534-BB30-8E3200A88CD2}">
      <dgm:prSet/>
      <dgm:spPr/>
      <dgm:t>
        <a:bodyPr/>
        <a:lstStyle/>
        <a:p>
          <a:endParaRPr lang="en-IN"/>
        </a:p>
      </dgm:t>
    </dgm:pt>
    <dgm:pt modelId="{C661EE96-50AE-4049-97EF-5C33E5B6FD64}">
      <dgm:prSet custT="1"/>
      <dgm:spPr/>
      <dgm:t>
        <a:bodyPr/>
        <a:lstStyle/>
        <a:p>
          <a:r>
            <a:rPr lang="en-IN" sz="2400" dirty="0"/>
            <a:t>airport _</a:t>
          </a:r>
          <a:r>
            <a:rPr lang="en-IN" sz="2400" dirty="0" err="1"/>
            <a:t>destintion</a:t>
          </a:r>
          <a:endParaRPr lang="en-IN" sz="2400" dirty="0"/>
        </a:p>
      </dgm:t>
    </dgm:pt>
    <dgm:pt modelId="{35897F19-6CE8-48BC-B7D9-6045825809B1}" type="sibTrans" cxnId="{DD57D886-463E-4AA2-AF83-6D545275EDDE}">
      <dgm:prSet/>
      <dgm:spPr/>
      <dgm:t>
        <a:bodyPr/>
        <a:lstStyle/>
        <a:p>
          <a:endParaRPr lang="en-IN"/>
        </a:p>
      </dgm:t>
    </dgm:pt>
    <dgm:pt modelId="{556131AD-37E6-4447-9F25-474DB6289DCD}" type="parTrans" cxnId="{DD57D886-463E-4AA2-AF83-6D545275EDDE}">
      <dgm:prSet/>
      <dgm:spPr/>
      <dgm:t>
        <a:bodyPr/>
        <a:lstStyle/>
        <a:p>
          <a:endParaRPr lang="en-IN"/>
        </a:p>
      </dgm:t>
    </dgm:pt>
    <dgm:pt modelId="{57163C59-A011-48E8-8046-AD3BA404A713}" type="pres">
      <dgm:prSet presAssocID="{975F782E-B352-4FC5-BBCE-045FCA5D413E}" presName="Name0" presStyleCnt="0">
        <dgm:presLayoutVars>
          <dgm:dir/>
          <dgm:animLvl val="lvl"/>
          <dgm:resizeHandles val="exact"/>
        </dgm:presLayoutVars>
      </dgm:prSet>
      <dgm:spPr/>
    </dgm:pt>
    <dgm:pt modelId="{99588725-D9E0-4418-9813-D9FE3BE2924D}" type="pres">
      <dgm:prSet presAssocID="{C661EE96-50AE-4049-97EF-5C33E5B6FD64}" presName="composite" presStyleCnt="0"/>
      <dgm:spPr/>
    </dgm:pt>
    <dgm:pt modelId="{059B0A33-4ED2-4A3F-A516-12EAEA83C817}" type="pres">
      <dgm:prSet presAssocID="{C661EE96-50AE-4049-97EF-5C33E5B6FD64}" presName="parTx" presStyleLbl="alignNode1" presStyleIdx="0" presStyleCnt="1" custLinFactNeighborX="-21420" custLinFactNeighborY="1995">
        <dgm:presLayoutVars>
          <dgm:chMax val="0"/>
          <dgm:chPref val="0"/>
          <dgm:bulletEnabled val="1"/>
        </dgm:presLayoutVars>
      </dgm:prSet>
      <dgm:spPr/>
    </dgm:pt>
    <dgm:pt modelId="{8693F13A-8D88-4205-9F87-CF3689972AAD}" type="pres">
      <dgm:prSet presAssocID="{C661EE96-50AE-4049-97EF-5C33E5B6FD64}" presName="desTx" presStyleLbl="alignAccFollowNode1" presStyleIdx="0" presStyleCnt="1" custLinFactNeighborX="18353" custLinFactNeighborY="5089">
        <dgm:presLayoutVars>
          <dgm:bulletEnabled val="1"/>
        </dgm:presLayoutVars>
      </dgm:prSet>
      <dgm:spPr/>
    </dgm:pt>
  </dgm:ptLst>
  <dgm:cxnLst>
    <dgm:cxn modelId="{75613732-72DC-46EF-A605-A669EB107ED6}" type="presOf" srcId="{C661EE96-50AE-4049-97EF-5C33E5B6FD64}" destId="{059B0A33-4ED2-4A3F-A516-12EAEA83C817}" srcOrd="0" destOrd="0" presId="urn:microsoft.com/office/officeart/2005/8/layout/hList1"/>
    <dgm:cxn modelId="{DD57D886-463E-4AA2-AF83-6D545275EDDE}" srcId="{975F782E-B352-4FC5-BBCE-045FCA5D413E}" destId="{C661EE96-50AE-4049-97EF-5C33E5B6FD64}" srcOrd="0" destOrd="0" parTransId="{556131AD-37E6-4447-9F25-474DB6289DCD}" sibTransId="{35897F19-6CE8-48BC-B7D9-6045825809B1}"/>
    <dgm:cxn modelId="{F4371EA6-B2F5-4534-BB30-8E3200A88CD2}" srcId="{C661EE96-50AE-4049-97EF-5C33E5B6FD64}" destId="{ECFE9BD5-CE0B-495A-BA1D-D4C7B80ECBE0}" srcOrd="0" destOrd="0" parTransId="{B31CA5E2-00F7-4A01-9F84-394F93FE0526}" sibTransId="{D44890ED-9651-43FB-BEA3-E703FB531FDC}"/>
    <dgm:cxn modelId="{12CE24B1-59D1-41E8-93B7-C0E722881E64}" type="presOf" srcId="{ECFE9BD5-CE0B-495A-BA1D-D4C7B80ECBE0}" destId="{8693F13A-8D88-4205-9F87-CF3689972AAD}" srcOrd="0" destOrd="0" presId="urn:microsoft.com/office/officeart/2005/8/layout/hList1"/>
    <dgm:cxn modelId="{F33F67E5-15F4-4B40-A22A-3D65A0BADE9A}" type="presOf" srcId="{975F782E-B352-4FC5-BBCE-045FCA5D413E}" destId="{57163C59-A011-48E8-8046-AD3BA404A713}" srcOrd="0" destOrd="0" presId="urn:microsoft.com/office/officeart/2005/8/layout/hList1"/>
    <dgm:cxn modelId="{9DBE1337-EF55-43B1-A7F1-111FEAF7EA61}" type="presParOf" srcId="{57163C59-A011-48E8-8046-AD3BA404A713}" destId="{99588725-D9E0-4418-9813-D9FE3BE2924D}" srcOrd="0" destOrd="0" presId="urn:microsoft.com/office/officeart/2005/8/layout/hList1"/>
    <dgm:cxn modelId="{DB9F87F3-CE3B-4D0F-A875-4D3D7B00AE35}" type="presParOf" srcId="{99588725-D9E0-4418-9813-D9FE3BE2924D}" destId="{059B0A33-4ED2-4A3F-A516-12EAEA83C817}" srcOrd="0" destOrd="0" presId="urn:microsoft.com/office/officeart/2005/8/layout/hList1"/>
    <dgm:cxn modelId="{173A811D-086F-4552-9C9C-EBEB22F983BB}" type="presParOf" srcId="{99588725-D9E0-4418-9813-D9FE3BE2924D}" destId="{8693F13A-8D88-4205-9F87-CF3689972AA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75F782E-B352-4FC5-BBCE-045FCA5D413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CFE9BD5-CE0B-495A-BA1D-D4C7B80ECBE0}">
      <dgm:prSet/>
      <dgm:spPr/>
      <dgm:t>
        <a:bodyPr/>
        <a:lstStyle/>
        <a:p>
          <a:endParaRPr lang="en-IN" dirty="0"/>
        </a:p>
      </dgm:t>
    </dgm:pt>
    <dgm:pt modelId="{B31CA5E2-00F7-4A01-9F84-394F93FE0526}" type="parTrans" cxnId="{F4371EA6-B2F5-4534-BB30-8E3200A88CD2}">
      <dgm:prSet/>
      <dgm:spPr/>
      <dgm:t>
        <a:bodyPr/>
        <a:lstStyle/>
        <a:p>
          <a:endParaRPr lang="en-IN"/>
        </a:p>
      </dgm:t>
    </dgm:pt>
    <dgm:pt modelId="{D44890ED-9651-43FB-BEA3-E703FB531FDC}" type="sibTrans" cxnId="{F4371EA6-B2F5-4534-BB30-8E3200A88CD2}">
      <dgm:prSet/>
      <dgm:spPr/>
      <dgm:t>
        <a:bodyPr/>
        <a:lstStyle/>
        <a:p>
          <a:endParaRPr lang="en-IN"/>
        </a:p>
      </dgm:t>
    </dgm:pt>
    <dgm:pt modelId="{C661EE96-50AE-4049-97EF-5C33E5B6FD64}">
      <dgm:prSet custT="1"/>
      <dgm:spPr/>
      <dgm:t>
        <a:bodyPr/>
        <a:lstStyle/>
        <a:p>
          <a:r>
            <a:rPr lang="en-IN" sz="2400" dirty="0"/>
            <a:t>Flights</a:t>
          </a:r>
        </a:p>
      </dgm:t>
    </dgm:pt>
    <dgm:pt modelId="{35897F19-6CE8-48BC-B7D9-6045825809B1}" type="sibTrans" cxnId="{DD57D886-463E-4AA2-AF83-6D545275EDDE}">
      <dgm:prSet/>
      <dgm:spPr/>
      <dgm:t>
        <a:bodyPr/>
        <a:lstStyle/>
        <a:p>
          <a:endParaRPr lang="en-IN"/>
        </a:p>
      </dgm:t>
    </dgm:pt>
    <dgm:pt modelId="{556131AD-37E6-4447-9F25-474DB6289DCD}" type="parTrans" cxnId="{DD57D886-463E-4AA2-AF83-6D545275EDDE}">
      <dgm:prSet/>
      <dgm:spPr/>
      <dgm:t>
        <a:bodyPr/>
        <a:lstStyle/>
        <a:p>
          <a:endParaRPr lang="en-IN"/>
        </a:p>
      </dgm:t>
    </dgm:pt>
    <dgm:pt modelId="{57163C59-A011-48E8-8046-AD3BA404A713}" type="pres">
      <dgm:prSet presAssocID="{975F782E-B352-4FC5-BBCE-045FCA5D413E}" presName="Name0" presStyleCnt="0">
        <dgm:presLayoutVars>
          <dgm:dir/>
          <dgm:animLvl val="lvl"/>
          <dgm:resizeHandles val="exact"/>
        </dgm:presLayoutVars>
      </dgm:prSet>
      <dgm:spPr/>
    </dgm:pt>
    <dgm:pt modelId="{99588725-D9E0-4418-9813-D9FE3BE2924D}" type="pres">
      <dgm:prSet presAssocID="{C661EE96-50AE-4049-97EF-5C33E5B6FD64}" presName="composite" presStyleCnt="0"/>
      <dgm:spPr/>
    </dgm:pt>
    <dgm:pt modelId="{059B0A33-4ED2-4A3F-A516-12EAEA83C817}" type="pres">
      <dgm:prSet presAssocID="{C661EE96-50AE-4049-97EF-5C33E5B6FD64}" presName="parTx" presStyleLbl="alignNode1" presStyleIdx="0" presStyleCnt="1" custLinFactNeighborX="-21420" custLinFactNeighborY="1995">
        <dgm:presLayoutVars>
          <dgm:chMax val="0"/>
          <dgm:chPref val="0"/>
          <dgm:bulletEnabled val="1"/>
        </dgm:presLayoutVars>
      </dgm:prSet>
      <dgm:spPr/>
    </dgm:pt>
    <dgm:pt modelId="{8693F13A-8D88-4205-9F87-CF3689972AAD}" type="pres">
      <dgm:prSet presAssocID="{C661EE96-50AE-4049-97EF-5C33E5B6FD64}" presName="desTx" presStyleLbl="alignAccFollowNode1" presStyleIdx="0" presStyleCnt="1" custLinFactNeighborX="-27046" custLinFactNeighborY="6048">
        <dgm:presLayoutVars>
          <dgm:bulletEnabled val="1"/>
        </dgm:presLayoutVars>
      </dgm:prSet>
      <dgm:spPr/>
    </dgm:pt>
  </dgm:ptLst>
  <dgm:cxnLst>
    <dgm:cxn modelId="{75613732-72DC-46EF-A605-A669EB107ED6}" type="presOf" srcId="{C661EE96-50AE-4049-97EF-5C33E5B6FD64}" destId="{059B0A33-4ED2-4A3F-A516-12EAEA83C817}" srcOrd="0" destOrd="0" presId="urn:microsoft.com/office/officeart/2005/8/layout/hList1"/>
    <dgm:cxn modelId="{DD57D886-463E-4AA2-AF83-6D545275EDDE}" srcId="{975F782E-B352-4FC5-BBCE-045FCA5D413E}" destId="{C661EE96-50AE-4049-97EF-5C33E5B6FD64}" srcOrd="0" destOrd="0" parTransId="{556131AD-37E6-4447-9F25-474DB6289DCD}" sibTransId="{35897F19-6CE8-48BC-B7D9-6045825809B1}"/>
    <dgm:cxn modelId="{F4371EA6-B2F5-4534-BB30-8E3200A88CD2}" srcId="{C661EE96-50AE-4049-97EF-5C33E5B6FD64}" destId="{ECFE9BD5-CE0B-495A-BA1D-D4C7B80ECBE0}" srcOrd="0" destOrd="0" parTransId="{B31CA5E2-00F7-4A01-9F84-394F93FE0526}" sibTransId="{D44890ED-9651-43FB-BEA3-E703FB531FDC}"/>
    <dgm:cxn modelId="{12CE24B1-59D1-41E8-93B7-C0E722881E64}" type="presOf" srcId="{ECFE9BD5-CE0B-495A-BA1D-D4C7B80ECBE0}" destId="{8693F13A-8D88-4205-9F87-CF3689972AAD}" srcOrd="0" destOrd="0" presId="urn:microsoft.com/office/officeart/2005/8/layout/hList1"/>
    <dgm:cxn modelId="{F33F67E5-15F4-4B40-A22A-3D65A0BADE9A}" type="presOf" srcId="{975F782E-B352-4FC5-BBCE-045FCA5D413E}" destId="{57163C59-A011-48E8-8046-AD3BA404A713}" srcOrd="0" destOrd="0" presId="urn:microsoft.com/office/officeart/2005/8/layout/hList1"/>
    <dgm:cxn modelId="{9DBE1337-EF55-43B1-A7F1-111FEAF7EA61}" type="presParOf" srcId="{57163C59-A011-48E8-8046-AD3BA404A713}" destId="{99588725-D9E0-4418-9813-D9FE3BE2924D}" srcOrd="0" destOrd="0" presId="urn:microsoft.com/office/officeart/2005/8/layout/hList1"/>
    <dgm:cxn modelId="{DB9F87F3-CE3B-4D0F-A875-4D3D7B00AE35}" type="presParOf" srcId="{99588725-D9E0-4418-9813-D9FE3BE2924D}" destId="{059B0A33-4ED2-4A3F-A516-12EAEA83C817}" srcOrd="0" destOrd="0" presId="urn:microsoft.com/office/officeart/2005/8/layout/hList1"/>
    <dgm:cxn modelId="{173A811D-086F-4552-9C9C-EBEB22F983BB}" type="presParOf" srcId="{99588725-D9E0-4418-9813-D9FE3BE2924D}" destId="{8693F13A-8D88-4205-9F87-CF3689972AA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1E45A2-3ACC-4A28-A63D-15C57240D150}">
      <dsp:nvSpPr>
        <dsp:cNvPr id="0" name=""/>
        <dsp:cNvSpPr/>
      </dsp:nvSpPr>
      <dsp:spPr>
        <a:xfrm>
          <a:off x="0" y="12988"/>
          <a:ext cx="4452258" cy="942319"/>
        </a:xfrm>
        <a:prstGeom prst="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4472C4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0" i="0" kern="1200" baseline="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The</a:t>
          </a:r>
          <a:r>
            <a:rPr lang="en-GB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US Flight Delays dataset contains:</a:t>
          </a:r>
          <a:endParaRPr lang="en-IN" sz="2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2988"/>
        <a:ext cx="4452258" cy="942319"/>
      </dsp:txXfrm>
    </dsp:sp>
    <dsp:sp modelId="{760F1B01-9EF9-47D7-B3D0-566A5CC4B7FE}">
      <dsp:nvSpPr>
        <dsp:cNvPr id="0" name=""/>
        <dsp:cNvSpPr/>
      </dsp:nvSpPr>
      <dsp:spPr>
        <a:xfrm>
          <a:off x="0" y="955308"/>
          <a:ext cx="4452258" cy="39253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Flight Date</a:t>
          </a:r>
          <a:endParaRPr lang="en-IN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Airline</a:t>
          </a:r>
          <a:endParaRPr lang="en-IN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Origin Airport</a:t>
          </a:r>
          <a:endParaRPr lang="en-IN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Destination Airport</a:t>
          </a:r>
          <a:endParaRPr lang="en-IN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Departure Delay</a:t>
          </a:r>
          <a:endParaRPr lang="en-IN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Arrival Delay</a:t>
          </a:r>
          <a:endParaRPr lang="en-IN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Cancellation Status</a:t>
          </a:r>
          <a:endParaRPr lang="en-IN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Distance</a:t>
          </a:r>
          <a:endParaRPr lang="en-IN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Day, Month, Year</a:t>
          </a:r>
          <a:endParaRPr lang="en-IN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955308"/>
        <a:ext cx="4452258" cy="39253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F97DBA-33B2-4701-9A0C-9692291E084B}">
      <dsp:nvSpPr>
        <dsp:cNvPr id="0" name=""/>
        <dsp:cNvSpPr/>
      </dsp:nvSpPr>
      <dsp:spPr>
        <a:xfrm rot="5400000">
          <a:off x="1066291" y="963368"/>
          <a:ext cx="3759636" cy="27728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Delay patterns</a:t>
          </a:r>
          <a:endParaRPr lang="en-IN" sz="2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Airline performance</a:t>
          </a:r>
          <a:endParaRPr lang="en-IN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Airport congestion</a:t>
          </a:r>
          <a:endParaRPr lang="en-IN" sz="2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Seasonal trends</a:t>
          </a:r>
          <a:endParaRPr lang="en-IN" sz="2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Major delay contributors</a:t>
          </a:r>
          <a:endParaRPr lang="en-IN" sz="2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1559705" y="605312"/>
        <a:ext cx="2637451" cy="3488922"/>
      </dsp:txXfrm>
    </dsp:sp>
    <dsp:sp modelId="{BA466D63-40C0-41DF-9FFB-9347D30A7F3A}">
      <dsp:nvSpPr>
        <dsp:cNvPr id="0" name=""/>
        <dsp:cNvSpPr/>
      </dsp:nvSpPr>
      <dsp:spPr>
        <a:xfrm>
          <a:off x="0" y="0"/>
          <a:ext cx="1559705" cy="469954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To identify:</a:t>
          </a:r>
          <a:endParaRPr lang="en-IN" sz="2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6139" y="76139"/>
        <a:ext cx="1407427" cy="45472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B0A33-4ED2-4A3F-A516-12EAEA83C817}">
      <dsp:nvSpPr>
        <dsp:cNvPr id="0" name=""/>
        <dsp:cNvSpPr/>
      </dsp:nvSpPr>
      <dsp:spPr>
        <a:xfrm>
          <a:off x="0" y="65326"/>
          <a:ext cx="6096000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0" i="0" kern="1200" baseline="0"/>
            <a:t>Removed nulls and duplicates.</a:t>
          </a:r>
          <a:endParaRPr lang="en-IN" sz="2600" kern="1200"/>
        </a:p>
      </dsp:txBody>
      <dsp:txXfrm>
        <a:off x="0" y="65326"/>
        <a:ext cx="6096000" cy="748800"/>
      </dsp:txXfrm>
    </dsp:sp>
    <dsp:sp modelId="{8693F13A-8D88-4205-9F87-CF3689972AAD}">
      <dsp:nvSpPr>
        <dsp:cNvPr id="0" name=""/>
        <dsp:cNvSpPr/>
      </dsp:nvSpPr>
      <dsp:spPr>
        <a:xfrm>
          <a:off x="0" y="814126"/>
          <a:ext cx="6096000" cy="34971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b="0" i="0" kern="1200" baseline="0"/>
            <a:t>Standardized data types (Date, Whole Number).</a:t>
          </a:r>
          <a:endParaRPr lang="en-IN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b="0" i="0" kern="1200" baseline="0"/>
            <a:t>Created Year, Month, Month Name columns.</a:t>
          </a:r>
          <a:endParaRPr lang="en-IN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b="0" i="0" kern="1200" baseline="0"/>
            <a:t>Created Delay Category (On-Time, Minor, Major).</a:t>
          </a:r>
          <a:endParaRPr lang="en-IN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b="0" i="0" kern="1200" baseline="0"/>
            <a:t>Ensured a clean and reliable dataset for modelling.</a:t>
          </a:r>
          <a:endParaRPr lang="en-IN" sz="2600" kern="1200"/>
        </a:p>
      </dsp:txBody>
      <dsp:txXfrm>
        <a:off x="0" y="814126"/>
        <a:ext cx="6096000" cy="34971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B0A33-4ED2-4A3F-A516-12EAEA83C817}">
      <dsp:nvSpPr>
        <dsp:cNvPr id="0" name=""/>
        <dsp:cNvSpPr/>
      </dsp:nvSpPr>
      <dsp:spPr>
        <a:xfrm>
          <a:off x="0" y="37744"/>
          <a:ext cx="1940561" cy="7762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airlines</a:t>
          </a:r>
        </a:p>
      </dsp:txBody>
      <dsp:txXfrm>
        <a:off x="0" y="37744"/>
        <a:ext cx="1940561" cy="776224"/>
      </dsp:txXfrm>
    </dsp:sp>
    <dsp:sp modelId="{8693F13A-8D88-4205-9F87-CF3689972AAD}">
      <dsp:nvSpPr>
        <dsp:cNvPr id="0" name=""/>
        <dsp:cNvSpPr/>
      </dsp:nvSpPr>
      <dsp:spPr>
        <a:xfrm>
          <a:off x="0" y="780381"/>
          <a:ext cx="1940561" cy="12297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800" kern="1200" dirty="0"/>
        </a:p>
      </dsp:txBody>
      <dsp:txXfrm>
        <a:off x="0" y="780381"/>
        <a:ext cx="1940561" cy="12297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B0A33-4ED2-4A3F-A516-12EAEA83C817}">
      <dsp:nvSpPr>
        <dsp:cNvPr id="0" name=""/>
        <dsp:cNvSpPr/>
      </dsp:nvSpPr>
      <dsp:spPr>
        <a:xfrm>
          <a:off x="0" y="0"/>
          <a:ext cx="1940561" cy="7762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airport</a:t>
          </a:r>
        </a:p>
      </dsp:txBody>
      <dsp:txXfrm>
        <a:off x="0" y="0"/>
        <a:ext cx="1940561" cy="776224"/>
      </dsp:txXfrm>
    </dsp:sp>
    <dsp:sp modelId="{8693F13A-8D88-4205-9F87-CF3689972AAD}">
      <dsp:nvSpPr>
        <dsp:cNvPr id="0" name=""/>
        <dsp:cNvSpPr/>
      </dsp:nvSpPr>
      <dsp:spPr>
        <a:xfrm>
          <a:off x="0" y="788080"/>
          <a:ext cx="1940561" cy="23716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8036" tIns="288036" rIns="384048" bIns="432054" numCol="1" spcCol="1270" anchor="t" anchorCtr="0">
          <a:noAutofit/>
        </a:bodyPr>
        <a:lstStyle/>
        <a:p>
          <a:pPr marL="285750" lvl="1" indent="-285750" algn="l" defTabSz="2400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5400" kern="1200" dirty="0"/>
        </a:p>
      </dsp:txBody>
      <dsp:txXfrm>
        <a:off x="0" y="788080"/>
        <a:ext cx="1940561" cy="23716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B0A33-4ED2-4A3F-A516-12EAEA83C817}">
      <dsp:nvSpPr>
        <dsp:cNvPr id="0" name=""/>
        <dsp:cNvSpPr/>
      </dsp:nvSpPr>
      <dsp:spPr>
        <a:xfrm>
          <a:off x="0" y="23446"/>
          <a:ext cx="2044336" cy="8177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airport _</a:t>
          </a:r>
          <a:r>
            <a:rPr lang="en-IN" sz="2400" kern="1200" dirty="0" err="1"/>
            <a:t>destintion</a:t>
          </a:r>
          <a:endParaRPr lang="en-IN" sz="2400" kern="1200" dirty="0"/>
        </a:p>
      </dsp:txBody>
      <dsp:txXfrm>
        <a:off x="0" y="23446"/>
        <a:ext cx="2044336" cy="817734"/>
      </dsp:txXfrm>
    </dsp:sp>
    <dsp:sp modelId="{8693F13A-8D88-4205-9F87-CF3689972AAD}">
      <dsp:nvSpPr>
        <dsp:cNvPr id="0" name=""/>
        <dsp:cNvSpPr/>
      </dsp:nvSpPr>
      <dsp:spPr>
        <a:xfrm>
          <a:off x="0" y="832000"/>
          <a:ext cx="2044336" cy="23277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702" tIns="282702" rIns="376936" bIns="424053" numCol="1" spcCol="1270" anchor="t" anchorCtr="0">
          <a:noAutofit/>
        </a:bodyPr>
        <a:lstStyle/>
        <a:p>
          <a:pPr marL="285750" lvl="1" indent="-285750" algn="l" defTabSz="2355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5300" kern="1200" dirty="0"/>
        </a:p>
      </dsp:txBody>
      <dsp:txXfrm>
        <a:off x="0" y="832000"/>
        <a:ext cx="2044336" cy="23277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B0A33-4ED2-4A3F-A516-12EAEA83C817}">
      <dsp:nvSpPr>
        <dsp:cNvPr id="0" name=""/>
        <dsp:cNvSpPr/>
      </dsp:nvSpPr>
      <dsp:spPr>
        <a:xfrm>
          <a:off x="0" y="106380"/>
          <a:ext cx="2462343" cy="9849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Flights</a:t>
          </a:r>
        </a:p>
      </dsp:txBody>
      <dsp:txXfrm>
        <a:off x="0" y="106380"/>
        <a:ext cx="2462343" cy="984937"/>
      </dsp:txXfrm>
    </dsp:sp>
    <dsp:sp modelId="{8693F13A-8D88-4205-9F87-CF3689972AAD}">
      <dsp:nvSpPr>
        <dsp:cNvPr id="0" name=""/>
        <dsp:cNvSpPr/>
      </dsp:nvSpPr>
      <dsp:spPr>
        <a:xfrm>
          <a:off x="0" y="1158400"/>
          <a:ext cx="2462343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710" tIns="346710" rIns="462280" bIns="520065" numCol="1" spcCol="1270" anchor="t" anchorCtr="0">
          <a:noAutofit/>
        </a:bodyPr>
        <a:lstStyle/>
        <a:p>
          <a:pPr marL="285750" lvl="1" indent="-285750" algn="l" defTabSz="2889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6500" kern="1200" dirty="0"/>
        </a:p>
      </dsp:txBody>
      <dsp:txXfrm>
        <a:off x="0" y="1158400"/>
        <a:ext cx="2462343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C4829-1022-4817-8674-AFD40B24B0B4}" type="datetimeFigureOut">
              <a:rPr lang="en-GB" smtClean="0"/>
              <a:t>22/02/2026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369291-414D-4621-AD09-6EB483E32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990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69291-414D-4621-AD09-6EB483E32FB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032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05506-85E5-D54B-4884-EDB479198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20D22-E4B6-99D4-C1A1-6208FB5AE2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A59D4-D8BD-D66A-5510-E9EA62FB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D737B-66D3-44CA-AAA3-FBF38FDB7C5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6E60F-D212-8DBD-83FF-B7B91A944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6AC26-4D74-E931-73FB-1AE140AD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1DBD-FEE7-40DB-8840-AD668C4C3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631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6E1BD-C146-07B4-BC61-C6A79D873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1529-5CD1-FB42-53BC-430A617EF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39F2A-9CEC-676C-A754-1D08103B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D737B-66D3-44CA-AAA3-FBF38FDB7C5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C521A-707A-4EE0-3AC7-930AE9A3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9D3D2-92D0-094F-70F1-61E79E30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1DBD-FEE7-40DB-8840-AD668C4C3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148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59264-BD18-955C-2D07-AE32691FB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A5A74-982D-18C5-31A1-94438085C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EE090-F0D0-A3DF-B0CB-761D55AC7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D737B-66D3-44CA-AAA3-FBF38FDB7C5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D038D-6E20-53D1-6291-842888FCE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A0A0B-0DEA-6C42-44B6-DEC63639C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1DBD-FEE7-40DB-8840-AD668C4C3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76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BC83F-6D19-0FF3-9D0B-599E7BC27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7275F-6441-572A-CEB1-465543F9B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33337-0133-1083-D08A-A3FED9FA8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4AE30-117C-5F33-6369-873F33D0C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D737B-66D3-44CA-AAA3-FBF38FDB7C5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B46AD-9C16-E5E8-D9D2-A12EAF3A5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5F542-B22D-D443-3FB2-1FCF66E9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1DBD-FEE7-40DB-8840-AD668C4C3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763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37D79-6850-0B90-76CB-B3E94490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F5FBA-9053-0ADB-3031-E2BE4A8F7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4F165-F6A0-5572-EC49-18B181149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C021-598E-4716-BA68-000650BC9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CB5905-4C53-7DE3-0999-E87FC5E789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49D22D-2E04-DF6F-78A0-2F066BE20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D737B-66D3-44CA-AAA3-FBF38FDB7C5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366CA-462F-3F20-7563-CC70E23F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7C3AC2-D774-10D6-C51F-27F4757B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1DBD-FEE7-40DB-8840-AD668C4C3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772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9BC13-78A0-C9ED-2E2F-1E91B1742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E587B-5117-6368-DCCE-8F02F1C3A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D737B-66D3-44CA-AAA3-FBF38FDB7C5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75A-37A7-889D-12FF-F0D226FDE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F7158-DE01-5F86-927E-069C949F0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1DBD-FEE7-40DB-8840-AD668C4C3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70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514A26-5327-01FA-63E5-4BF1DB864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D737B-66D3-44CA-AAA3-FBF38FDB7C5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55E2C-B5AF-8A30-51C5-261DFBE7A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73670-BD52-4916-6B11-B8D0E1C3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1DBD-FEE7-40DB-8840-AD668C4C3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52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C336A-EA2E-E131-2A3E-52A5D9C2F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218BE-6B4F-1FD0-5426-CEC25769A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09406-0CE5-1EDE-A748-E29DEC93C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31ECB-35D2-16C8-B62D-BE0913ECF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D737B-66D3-44CA-AAA3-FBF38FDB7C5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B4833-4572-32F6-1805-E940DF63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C496B-4823-765E-18C4-003F705D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1DBD-FEE7-40DB-8840-AD668C4C3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14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C988-A198-E3CC-85DC-B1AF70E0C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8DFF8B-32C4-8A23-D771-203770A16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EE596-0032-6F97-8913-1AE73F815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01FE4-90F7-7FE1-A0B7-67616657D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D737B-66D3-44CA-AAA3-FBF38FDB7C5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A4B9E-53F6-C0A0-05E6-18AAA8B32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9E7C1-E9E8-057C-A7DB-97446B535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1DBD-FEE7-40DB-8840-AD668C4C3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66BEA-E729-E033-1347-5581085D7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F7F4E-B605-3019-E08B-250E67A5A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029E4-EA3B-2F92-28CE-5F0DB1F57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D737B-66D3-44CA-AAA3-FBF38FDB7C5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32DBB-EEA7-4E4B-5380-B9A342AB1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B2026-D57C-ACD8-1470-B7B63D955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1DBD-FEE7-40DB-8840-AD668C4C3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47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4C7E5-7303-C522-4C16-AC8EAF175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5BBA2-BF32-5487-0BF1-30DA12A44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BAF2A-292C-AE60-1BE3-53E3D4B31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D737B-66D3-44CA-AAA3-FBF38FDB7C5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9B2F7-DDD0-6075-87BE-EAA28C68E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41273-E0C5-4348-F8A0-4BF8A19C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1DBD-FEE7-40DB-8840-AD668C4C3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064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B0B69B-57E0-37FE-92E7-E28110854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E321E-5C39-88FD-9F06-D8C900682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8CD3D-00C0-A44E-5688-BD3B32098E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D737B-66D3-44CA-AAA3-FBF38FDB7C5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0D7ED-4A6F-720D-044B-D060F6491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91EF1-759A-05E5-3089-EC1083E18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11DBD-FEE7-40DB-8840-AD668C4C3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4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18" Type="http://schemas.openxmlformats.org/officeDocument/2006/relationships/diagramLayout" Target="../diagrams/layout7.xml"/><Relationship Id="rId3" Type="http://schemas.openxmlformats.org/officeDocument/2006/relationships/diagramLayout" Target="../diagrams/layout4.xml"/><Relationship Id="rId21" Type="http://schemas.microsoft.com/office/2007/relationships/diagramDrawing" Target="../diagrams/drawing7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17" Type="http://schemas.openxmlformats.org/officeDocument/2006/relationships/diagramData" Target="../diagrams/data7.xml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20" Type="http://schemas.openxmlformats.org/officeDocument/2006/relationships/diagramColors" Target="../diagrams/colors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19" Type="http://schemas.openxmlformats.org/officeDocument/2006/relationships/diagramQuickStyle" Target="../diagrams/quickStyle7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B4F423-1669-A18B-549C-98C5B1CF84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C337D-275F-3448-83AD-9E52DC50C3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US Flight Delays Using Power BI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BFF46-F68F-85C9-D6AD-30C3E2EEF8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Modelling, Transformations &amp; Visual Storytelling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CB931-65B0-8A22-BFE3-4B3C3DC37889}"/>
              </a:ext>
            </a:extLst>
          </p:cNvPr>
          <p:cNvSpPr txBox="1"/>
          <p:nvPr/>
        </p:nvSpPr>
        <p:spPr>
          <a:xfrm>
            <a:off x="7369629" y="5475514"/>
            <a:ext cx="48223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Pranav P Nair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used: Power BI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 Team 2</a:t>
            </a:r>
          </a:p>
        </p:txBody>
      </p:sp>
    </p:spTree>
    <p:extLst>
      <p:ext uri="{BB962C8B-B14F-4D97-AF65-F5344CB8AC3E}">
        <p14:creationId xmlns:p14="http://schemas.microsoft.com/office/powerpoint/2010/main" val="2149058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54289E13-065C-E49F-D10F-D3CF483988EC}"/>
              </a:ext>
            </a:extLst>
          </p:cNvPr>
          <p:cNvSpPr/>
          <p:nvPr/>
        </p:nvSpPr>
        <p:spPr>
          <a:xfrm flipV="1">
            <a:off x="6193973" y="0"/>
            <a:ext cx="5998027" cy="6858000"/>
          </a:xfrm>
          <a:prstGeom prst="round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42A39B5D-CD4C-3037-9630-C0121C5B8FA7}"/>
              </a:ext>
            </a:extLst>
          </p:cNvPr>
          <p:cNvSpPr/>
          <p:nvPr/>
        </p:nvSpPr>
        <p:spPr>
          <a:xfrm>
            <a:off x="1" y="0"/>
            <a:ext cx="6193972" cy="6858000"/>
          </a:xfrm>
          <a:prstGeom prst="round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F0B16F5B-4F1B-246B-5920-3DA2615B84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0277260"/>
              </p:ext>
            </p:extLst>
          </p:nvPr>
        </p:nvGraphicFramePr>
        <p:xfrm>
          <a:off x="914400" y="956806"/>
          <a:ext cx="4452258" cy="4893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EB5DDFE-4A4E-F432-F2BA-D9F4500A1004}"/>
              </a:ext>
            </a:extLst>
          </p:cNvPr>
          <p:cNvSpPr txBox="1"/>
          <p:nvPr/>
        </p:nvSpPr>
        <p:spPr>
          <a:xfrm>
            <a:off x="555172" y="313844"/>
            <a:ext cx="8371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📁 Dataset Description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1A194-AF9E-56BB-1057-E5E7081C4B4D}"/>
              </a:ext>
            </a:extLst>
          </p:cNvPr>
          <p:cNvSpPr txBox="1"/>
          <p:nvPr/>
        </p:nvSpPr>
        <p:spPr>
          <a:xfrm>
            <a:off x="7070272" y="380647"/>
            <a:ext cx="4822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📌 Objective of Analysis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A8A2600-1156-E26A-5D9C-D59C3B91A1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1321111"/>
              </p:ext>
            </p:extLst>
          </p:nvPr>
        </p:nvGraphicFramePr>
        <p:xfrm>
          <a:off x="7108372" y="1150908"/>
          <a:ext cx="4332514" cy="4699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0310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B350DC-C4EC-B2FE-FFF8-A56B2197C8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24FE2-D1FC-AC42-630E-44DCF08796F5}"/>
              </a:ext>
            </a:extLst>
          </p:cNvPr>
          <p:cNvSpPr txBox="1"/>
          <p:nvPr/>
        </p:nvSpPr>
        <p:spPr>
          <a:xfrm>
            <a:off x="3048000" y="256439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 Transformations in Power Query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EAE23031-49F6-EE50-C1B6-F76B915138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0951272"/>
              </p:ext>
            </p:extLst>
          </p:nvPr>
        </p:nvGraphicFramePr>
        <p:xfrm>
          <a:off x="3243943" y="1702989"/>
          <a:ext cx="6096000" cy="43765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126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CD6FD-DA3D-D916-5F9F-43FF9E65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8A1C8F-5B3B-B96E-0188-EAA9ECC4F80D}"/>
              </a:ext>
            </a:extLst>
          </p:cNvPr>
          <p:cNvSpPr/>
          <p:nvPr/>
        </p:nvSpPr>
        <p:spPr>
          <a:xfrm>
            <a:off x="-43535" y="0"/>
            <a:ext cx="12192000" cy="6858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B8291-8805-6E5C-EDEF-4E5B521252B5}"/>
              </a:ext>
            </a:extLst>
          </p:cNvPr>
          <p:cNvSpPr txBox="1"/>
          <p:nvPr/>
        </p:nvSpPr>
        <p:spPr>
          <a:xfrm>
            <a:off x="3048000" y="256439"/>
            <a:ext cx="6807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 </a:t>
            </a:r>
            <a:r>
              <a:rPr lang="en-IN" sz="4400" b="1" dirty="0" err="1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Modeling</a:t>
            </a:r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in Power </a:t>
            </a:r>
            <a:r>
              <a:rPr lang="en-IN" sz="4400" b="1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BI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23DB6149-B4DF-2E5A-ED8E-C19363FCCD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0602686"/>
              </p:ext>
            </p:extLst>
          </p:nvPr>
        </p:nvGraphicFramePr>
        <p:xfrm>
          <a:off x="240934" y="2245360"/>
          <a:ext cx="1940561" cy="2014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D7BE2AB-8B93-593C-A2C6-BB81697FC678}"/>
              </a:ext>
            </a:extLst>
          </p:cNvPr>
          <p:cNvSpPr txBox="1"/>
          <p:nvPr/>
        </p:nvSpPr>
        <p:spPr>
          <a:xfrm>
            <a:off x="103776" y="3059329"/>
            <a:ext cx="2245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AIRLINE</a:t>
            </a:r>
          </a:p>
          <a:p>
            <a:pPr algn="ctr"/>
            <a:r>
              <a:rPr lang="en-US" dirty="0"/>
              <a:t>IATA_CODE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55DD256-E17E-73D4-8864-E7689B8E75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524086"/>
              </p:ext>
            </p:extLst>
          </p:nvPr>
        </p:nvGraphicFramePr>
        <p:xfrm>
          <a:off x="3182983" y="1747520"/>
          <a:ext cx="1940561" cy="3159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FF17330-4817-4DE6-F94C-B4096D92C4F0}"/>
              </a:ext>
            </a:extLst>
          </p:cNvPr>
          <p:cNvSpPr txBox="1"/>
          <p:nvPr/>
        </p:nvSpPr>
        <p:spPr>
          <a:xfrm>
            <a:off x="3115852" y="2700556"/>
            <a:ext cx="19405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AIRPORT</a:t>
            </a:r>
          </a:p>
          <a:p>
            <a:pPr algn="ctr"/>
            <a:r>
              <a:rPr lang="en-US" dirty="0"/>
              <a:t>CITY</a:t>
            </a:r>
          </a:p>
          <a:p>
            <a:pPr algn="ctr"/>
            <a:r>
              <a:rPr lang="en-US" dirty="0"/>
              <a:t>COUNTRY</a:t>
            </a:r>
          </a:p>
          <a:p>
            <a:pPr algn="ctr"/>
            <a:r>
              <a:rPr lang="en-US" dirty="0"/>
              <a:t>IATA_CODE</a:t>
            </a:r>
          </a:p>
          <a:p>
            <a:pPr algn="ctr"/>
            <a:r>
              <a:rPr lang="en-US" dirty="0"/>
              <a:t>LATITUDE</a:t>
            </a:r>
          </a:p>
          <a:p>
            <a:pPr algn="ctr"/>
            <a:r>
              <a:rPr lang="en-US" dirty="0"/>
              <a:t>LONGTITUDE</a:t>
            </a:r>
          </a:p>
          <a:p>
            <a:pPr algn="ctr"/>
            <a:r>
              <a:rPr lang="en-US" dirty="0"/>
              <a:t>STATE</a:t>
            </a:r>
          </a:p>
          <a:p>
            <a:endParaRPr lang="en-US" dirty="0"/>
          </a:p>
        </p:txBody>
      </p: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1A5F6A87-B1B0-E902-2B10-6AE08662A2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0227803"/>
              </p:ext>
            </p:extLst>
          </p:nvPr>
        </p:nvGraphicFramePr>
        <p:xfrm>
          <a:off x="6195059" y="1747520"/>
          <a:ext cx="2044336" cy="3159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04CC97C-FF9E-1F58-0D53-ECA3D49A2235}"/>
              </a:ext>
            </a:extLst>
          </p:cNvPr>
          <p:cNvSpPr txBox="1"/>
          <p:nvPr/>
        </p:nvSpPr>
        <p:spPr>
          <a:xfrm>
            <a:off x="6265460" y="2787778"/>
            <a:ext cx="18389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AIRPORT</a:t>
            </a:r>
          </a:p>
          <a:p>
            <a:pPr algn="ctr"/>
            <a:r>
              <a:rPr lang="en-US" dirty="0"/>
              <a:t>CITY</a:t>
            </a:r>
          </a:p>
          <a:p>
            <a:pPr algn="ctr"/>
            <a:r>
              <a:rPr lang="en-US" dirty="0"/>
              <a:t>COUNTRY</a:t>
            </a:r>
          </a:p>
          <a:p>
            <a:pPr algn="ctr"/>
            <a:r>
              <a:rPr lang="en-US" dirty="0"/>
              <a:t>IATA_CODE</a:t>
            </a:r>
          </a:p>
          <a:p>
            <a:pPr algn="ctr"/>
            <a:r>
              <a:rPr lang="en-US" dirty="0"/>
              <a:t>LATITUDE</a:t>
            </a:r>
          </a:p>
          <a:p>
            <a:pPr algn="ctr"/>
            <a:r>
              <a:rPr lang="en-US" dirty="0"/>
              <a:t>LONGTITUDE</a:t>
            </a:r>
          </a:p>
          <a:p>
            <a:pPr algn="ctr"/>
            <a:r>
              <a:rPr lang="en-US" dirty="0"/>
              <a:t>STATE</a:t>
            </a:r>
          </a:p>
          <a:p>
            <a:endParaRPr lang="en-US" dirty="0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8E0B4D9B-902A-F5BD-38C3-198CDA0AC5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1210217"/>
              </p:ext>
            </p:extLst>
          </p:nvPr>
        </p:nvGraphicFramePr>
        <p:xfrm>
          <a:off x="9140377" y="1422400"/>
          <a:ext cx="2462343" cy="401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743D47E-2A9D-FF96-37A9-788B4C2160D0}"/>
              </a:ext>
            </a:extLst>
          </p:cNvPr>
          <p:cNvSpPr txBox="1"/>
          <p:nvPr/>
        </p:nvSpPr>
        <p:spPr>
          <a:xfrm>
            <a:off x="9275352" y="2700556"/>
            <a:ext cx="244856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AIR_TIME</a:t>
            </a:r>
          </a:p>
          <a:p>
            <a:r>
              <a:rPr lang="en-US" dirty="0"/>
              <a:t>      AIRLINE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ARRIVAL_DELAY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ARRIVAL_TIME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CANCELLED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DAY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DAY_ OF _ WEEK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DEPARTURE DELAY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DEPARTURE TIME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A07F013-E026-F8E5-B64E-F281AA1F086F}"/>
              </a:ext>
            </a:extLst>
          </p:cNvPr>
          <p:cNvCxnSpPr>
            <a:cxnSpLocks/>
          </p:cNvCxnSpPr>
          <p:nvPr/>
        </p:nvCxnSpPr>
        <p:spPr>
          <a:xfrm>
            <a:off x="5119006" y="3497238"/>
            <a:ext cx="1040495" cy="444702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6686F6F3-B3E1-6101-5F63-FDC8AC61A206}"/>
              </a:ext>
            </a:extLst>
          </p:cNvPr>
          <p:cNvCxnSpPr/>
          <p:nvPr/>
        </p:nvCxnSpPr>
        <p:spPr>
          <a:xfrm rot="10800000" flipV="1">
            <a:off x="8310881" y="3497238"/>
            <a:ext cx="829497" cy="27212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23AC4922-CF42-FA3A-A6F6-46DA5B44C1CF}"/>
              </a:ext>
            </a:extLst>
          </p:cNvPr>
          <p:cNvCxnSpPr>
            <a:cxnSpLocks/>
          </p:cNvCxnSpPr>
          <p:nvPr/>
        </p:nvCxnSpPr>
        <p:spPr>
          <a:xfrm rot="10800000" flipV="1">
            <a:off x="8205113" y="3956088"/>
            <a:ext cx="777059" cy="644268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283C3589-7FD7-464B-D652-C8C9E6FE9946}"/>
              </a:ext>
            </a:extLst>
          </p:cNvPr>
          <p:cNvCxnSpPr/>
          <p:nvPr/>
        </p:nvCxnSpPr>
        <p:spPr>
          <a:xfrm rot="10800000" flipV="1">
            <a:off x="8153572" y="4223645"/>
            <a:ext cx="829496" cy="599300"/>
          </a:xfrm>
          <a:prstGeom prst="bentConnector3">
            <a:avLst>
              <a:gd name="adj1" fmla="val 37752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EF10963-CD4C-CD04-F686-1E380C649AEF}"/>
              </a:ext>
            </a:extLst>
          </p:cNvPr>
          <p:cNvSpPr txBox="1"/>
          <p:nvPr/>
        </p:nvSpPr>
        <p:spPr>
          <a:xfrm>
            <a:off x="8897245" y="3531552"/>
            <a:ext cx="4136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  <a:p>
            <a:r>
              <a:rPr lang="en-US" dirty="0"/>
              <a:t>*</a:t>
            </a:r>
          </a:p>
          <a:p>
            <a:r>
              <a:rPr lang="en-US" dirty="0"/>
              <a:t>*</a:t>
            </a:r>
          </a:p>
          <a:p>
            <a:endParaRPr lang="en-US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75E7702-76BC-5E49-0EBC-B9E8C63D6202}"/>
              </a:ext>
            </a:extLst>
          </p:cNvPr>
          <p:cNvCxnSpPr>
            <a:cxnSpLocks/>
          </p:cNvCxnSpPr>
          <p:nvPr/>
        </p:nvCxnSpPr>
        <p:spPr>
          <a:xfrm>
            <a:off x="1001083" y="4873746"/>
            <a:ext cx="21574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078CBE9-207E-2D40-55FC-96C3C2EA715B}"/>
              </a:ext>
            </a:extLst>
          </p:cNvPr>
          <p:cNvCxnSpPr>
            <a:cxnSpLocks/>
          </p:cNvCxnSpPr>
          <p:nvPr/>
        </p:nvCxnSpPr>
        <p:spPr>
          <a:xfrm>
            <a:off x="5119006" y="4600357"/>
            <a:ext cx="107605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EC3B4BB-CC02-62BB-02E6-D7E0795D93D6}"/>
              </a:ext>
            </a:extLst>
          </p:cNvPr>
          <p:cNvCxnSpPr>
            <a:cxnSpLocks/>
          </p:cNvCxnSpPr>
          <p:nvPr/>
        </p:nvCxnSpPr>
        <p:spPr>
          <a:xfrm>
            <a:off x="1079602" y="4234953"/>
            <a:ext cx="0" cy="65556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496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981200" y="73152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278880" y="731520"/>
          <a:ext cx="39319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81200" y="3566160"/>
          <a:ext cx="82296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528D-0D04-5534-FEF4-D1F309BF7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4DFFE-FABF-5EAC-3B31-6B3B0C5B3D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9035A-A976-B026-1468-6A3B51E25F42}"/>
              </a:ext>
            </a:extLst>
          </p:cNvPr>
          <p:cNvSpPr txBox="1"/>
          <p:nvPr/>
        </p:nvSpPr>
        <p:spPr>
          <a:xfrm>
            <a:off x="1193800" y="787380"/>
            <a:ext cx="9555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Star Schema Data Modelling Approach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84A267-4C1E-8200-0FAC-106B57E330FD}"/>
              </a:ext>
            </a:extLst>
          </p:cNvPr>
          <p:cNvSpPr txBox="1"/>
          <p:nvPr/>
        </p:nvSpPr>
        <p:spPr>
          <a:xfrm>
            <a:off x="884766" y="1936283"/>
            <a:ext cx="1042246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</a:rPr>
              <a:t>• </a:t>
            </a:r>
            <a:r>
              <a:rPr lang="en-US" sz="2800" dirty="0">
                <a:solidFill>
                  <a:schemeClr val="bg1"/>
                </a:solidFill>
              </a:rPr>
              <a:t>Flights table designed as the central Fact table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• Airlines, Origin Airports &amp; Destination Airports as Dimension tables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• One-to-Many (1 → *) relationships established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• Single-direction cross filtering applied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• Primary &amp; Foreign keys used for table connections</a:t>
            </a:r>
          </a:p>
          <a:p>
            <a:pPr algn="just"/>
            <a:r>
              <a:rPr lang="en-US" sz="2800" dirty="0">
                <a:solidFill>
                  <a:schemeClr val="bg1"/>
                </a:solidFill>
              </a:rPr>
              <a:t>• Technical key columns hidden for clean report view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13925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864624-10B5-2939-366F-16C0D11E8E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ln>
            <a:solidFill>
              <a:srgbClr val="3F71CA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7E765-3FCB-CBE0-5273-4D259AE51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500062"/>
            <a:ext cx="10515600" cy="1325563"/>
          </a:xfrm>
        </p:spPr>
        <p:txBody>
          <a:bodyPr/>
          <a:lstStyle/>
          <a:p>
            <a:r>
              <a:rPr lang="en-GB" b="1" i="1" dirty="0"/>
              <a:t>Star Schema Modelling — What, Why,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289DF-382B-CD96-D9E8-D8689B333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What is Star Schema?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Star schema is a data modelling structure where: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A </a:t>
            </a:r>
            <a:r>
              <a:rPr lang="en-GB" b="1" dirty="0">
                <a:solidFill>
                  <a:schemeClr val="bg1"/>
                </a:solidFill>
              </a:rPr>
              <a:t>central Fact table</a:t>
            </a:r>
            <a:r>
              <a:rPr lang="en-GB" dirty="0">
                <a:solidFill>
                  <a:schemeClr val="bg1"/>
                </a:solidFill>
              </a:rPr>
              <a:t> stores measurable data (numeric values).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Multiple </a:t>
            </a:r>
            <a:r>
              <a:rPr lang="en-GB" b="1" dirty="0">
                <a:solidFill>
                  <a:schemeClr val="bg1"/>
                </a:solidFill>
              </a:rPr>
              <a:t>Dimension tables</a:t>
            </a:r>
            <a:r>
              <a:rPr lang="en-GB" dirty="0">
                <a:solidFill>
                  <a:schemeClr val="bg1"/>
                </a:solidFill>
              </a:rPr>
              <a:t> store descriptive information.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Tables are connected using </a:t>
            </a:r>
            <a:r>
              <a:rPr lang="en-GB" b="1" dirty="0">
                <a:solidFill>
                  <a:schemeClr val="bg1"/>
                </a:solidFill>
              </a:rPr>
              <a:t>primary and foreign keys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The structure looks like a star — fact table in the </a:t>
            </a:r>
            <a:r>
              <a:rPr lang="en-GB" dirty="0" err="1">
                <a:solidFill>
                  <a:schemeClr val="bg1"/>
                </a:solidFill>
              </a:rPr>
              <a:t>center</a:t>
            </a:r>
            <a:r>
              <a:rPr lang="en-GB" dirty="0">
                <a:solidFill>
                  <a:schemeClr val="bg1"/>
                </a:solidFill>
              </a:rPr>
              <a:t>, dimensions around it.</a:t>
            </a:r>
          </a:p>
          <a:p>
            <a:r>
              <a:rPr lang="en-GB" b="1" dirty="0">
                <a:solidFill>
                  <a:schemeClr val="bg1"/>
                </a:solidFill>
              </a:rPr>
              <a:t>In this project:</a:t>
            </a:r>
            <a:endParaRPr lang="en-GB" dirty="0">
              <a:solidFill>
                <a:schemeClr val="bg1"/>
              </a:solidFill>
            </a:endParaRPr>
          </a:p>
          <a:p>
            <a:pPr lvl="1"/>
            <a:r>
              <a:rPr lang="en-GB" b="1" dirty="0">
                <a:solidFill>
                  <a:schemeClr val="bg1"/>
                </a:solidFill>
              </a:rPr>
              <a:t>Fact Table:</a:t>
            </a:r>
            <a:r>
              <a:rPr lang="en-GB" dirty="0">
                <a:solidFill>
                  <a:schemeClr val="bg1"/>
                </a:solidFill>
              </a:rPr>
              <a:t> Flights (arrival delay, departure delay, air time, cancellations)</a:t>
            </a:r>
          </a:p>
          <a:p>
            <a:pPr lvl="1"/>
            <a:r>
              <a:rPr lang="en-GB" b="1" dirty="0">
                <a:solidFill>
                  <a:schemeClr val="bg1"/>
                </a:solidFill>
              </a:rPr>
              <a:t>Dimension Tables:</a:t>
            </a:r>
            <a:r>
              <a:rPr lang="en-GB" dirty="0">
                <a:solidFill>
                  <a:schemeClr val="bg1"/>
                </a:solidFill>
              </a:rPr>
              <a:t> Airlines, Origin Airports, Destination Airports, Date/Time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7788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469C5C-218C-E7A9-38E8-BDB04EC894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5B1DCB-7626-F960-136F-ADDEDAB1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Star Schema Modelling — What, Why,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D2E2D-378F-A412-EFC3-03AD8257C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Why Use Star Schema?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Improves </a:t>
            </a:r>
            <a:r>
              <a:rPr lang="en-GB" b="1" dirty="0">
                <a:solidFill>
                  <a:schemeClr val="bg1"/>
                </a:solidFill>
              </a:rPr>
              <a:t>query performance</a:t>
            </a:r>
            <a:r>
              <a:rPr lang="en-GB" dirty="0">
                <a:solidFill>
                  <a:schemeClr val="bg1"/>
                </a:solidFill>
              </a:rPr>
              <a:t> in Power BI.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Makes dashboards easier to understand.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Supports fast filtering and slicing.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Reduces data redundancy.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Ideal for analytical and reporting systems.</a:t>
            </a:r>
          </a:p>
          <a:p>
            <a:r>
              <a:rPr lang="en-GB" dirty="0">
                <a:solidFill>
                  <a:schemeClr val="bg1"/>
                </a:solidFill>
              </a:rPr>
              <a:t> Analysts can quickly answer questions like: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Which airline has the highest delays?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Which airport causes most cancellations?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8366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C055CD-D5B5-06CF-DA4E-A252F1A423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7EDEF-86DB-BAAD-7625-AF5EB6387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Star Schema Modelling — What, Why,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8129F-8BF5-F0F9-0AB3-F1F928908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How Was It Implemented?</a:t>
            </a:r>
          </a:p>
          <a:p>
            <a:r>
              <a:rPr lang="en-GB" dirty="0">
                <a:solidFill>
                  <a:schemeClr val="bg1"/>
                </a:solidFill>
              </a:rPr>
              <a:t>Cleaned and transformed data in </a:t>
            </a:r>
            <a:r>
              <a:rPr lang="en-GB" b="1" dirty="0">
                <a:solidFill>
                  <a:schemeClr val="bg1"/>
                </a:solidFill>
              </a:rPr>
              <a:t>Power Query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r>
              <a:rPr lang="en-GB" dirty="0">
                <a:solidFill>
                  <a:schemeClr val="bg1"/>
                </a:solidFill>
              </a:rPr>
              <a:t>Created a </a:t>
            </a:r>
            <a:r>
              <a:rPr lang="en-GB" b="1" dirty="0">
                <a:solidFill>
                  <a:schemeClr val="bg1"/>
                </a:solidFill>
              </a:rPr>
              <a:t>Flights fact table</a:t>
            </a:r>
            <a:r>
              <a:rPr lang="en-GB" dirty="0">
                <a:solidFill>
                  <a:schemeClr val="bg1"/>
                </a:solidFill>
              </a:rPr>
              <a:t> containing transactional records.</a:t>
            </a:r>
          </a:p>
          <a:p>
            <a:r>
              <a:rPr lang="en-GB" dirty="0">
                <a:solidFill>
                  <a:schemeClr val="bg1"/>
                </a:solidFill>
              </a:rPr>
              <a:t>Built dimension tables: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Airline details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Airport information</a:t>
            </a:r>
          </a:p>
          <a:p>
            <a:r>
              <a:rPr lang="en-GB" dirty="0">
                <a:solidFill>
                  <a:schemeClr val="bg1"/>
                </a:solidFill>
              </a:rPr>
              <a:t>Established </a:t>
            </a:r>
            <a:r>
              <a:rPr lang="en-GB" b="1" dirty="0">
                <a:solidFill>
                  <a:schemeClr val="bg1"/>
                </a:solidFill>
              </a:rPr>
              <a:t>one-to-many relationships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r>
              <a:rPr lang="en-GB" dirty="0">
                <a:solidFill>
                  <a:schemeClr val="bg1"/>
                </a:solidFill>
              </a:rPr>
              <a:t>Applied </a:t>
            </a:r>
            <a:r>
              <a:rPr lang="en-GB" b="1" dirty="0">
                <a:solidFill>
                  <a:schemeClr val="bg1"/>
                </a:solidFill>
              </a:rPr>
              <a:t>single-direction filtering</a:t>
            </a:r>
            <a:r>
              <a:rPr lang="en-GB" dirty="0">
                <a:solidFill>
                  <a:schemeClr val="bg1"/>
                </a:solidFill>
              </a:rPr>
              <a:t> for performance.</a:t>
            </a:r>
          </a:p>
          <a:p>
            <a:r>
              <a:rPr lang="en-GB" dirty="0">
                <a:solidFill>
                  <a:schemeClr val="bg1"/>
                </a:solidFill>
              </a:rPr>
              <a:t>Hid technical key columns for cleaner reporting view.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667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9BB95D9-23BA-18EE-13A7-49D86177D0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258B3-8F47-7B0E-400D-2E65A029D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b="1" i="1" dirty="0"/>
              <a:t>Visual Encoding Principles Applied</a:t>
            </a:r>
            <a:br>
              <a:rPr lang="en-GB" b="1" i="1" dirty="0"/>
            </a:br>
            <a:endParaRPr lang="en-GB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64FFF-4A29-B232-3BCE-49FDB5314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33" y="1122890"/>
            <a:ext cx="11184467" cy="573511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2800" dirty="0">
                <a:solidFill>
                  <a:schemeClr val="bg1"/>
                </a:solidFill>
              </a:rPr>
              <a:t>Visual encoding means using visual elements to communicate data clearly.</a:t>
            </a:r>
          </a:p>
          <a:p>
            <a:pPr marL="0" indent="0">
              <a:buNone/>
            </a:pPr>
            <a:endParaRPr lang="en-GB" sz="12800" b="1" dirty="0">
              <a:solidFill>
                <a:schemeClr val="bg1"/>
              </a:solidFill>
            </a:endParaRPr>
          </a:p>
          <a:p>
            <a:r>
              <a:rPr lang="en-GB" sz="12800" b="1" dirty="0">
                <a:solidFill>
                  <a:schemeClr val="bg1"/>
                </a:solidFill>
              </a:rPr>
              <a:t>Key Principles Used:</a:t>
            </a:r>
          </a:p>
          <a:p>
            <a:pPr lvl="1"/>
            <a:r>
              <a:rPr lang="en-GB" sz="7200" dirty="0">
                <a:solidFill>
                  <a:schemeClr val="bg1"/>
                </a:solidFill>
              </a:rPr>
              <a:t> </a:t>
            </a:r>
            <a:r>
              <a:rPr lang="en-GB" sz="7200" b="1" dirty="0">
                <a:solidFill>
                  <a:schemeClr val="bg1"/>
                </a:solidFill>
              </a:rPr>
              <a:t>Position</a:t>
            </a:r>
            <a:endParaRPr lang="en-GB" sz="7200" dirty="0">
              <a:solidFill>
                <a:schemeClr val="bg1"/>
              </a:solidFill>
            </a:endParaRPr>
          </a:p>
          <a:p>
            <a:pPr lvl="2"/>
            <a:r>
              <a:rPr lang="en-GB" sz="7200" dirty="0">
                <a:solidFill>
                  <a:schemeClr val="bg1"/>
                </a:solidFill>
              </a:rPr>
              <a:t>Bar charts compare airline delays accurately.</a:t>
            </a:r>
          </a:p>
          <a:p>
            <a:pPr lvl="1"/>
            <a:r>
              <a:rPr lang="en-GB" sz="7200" dirty="0">
                <a:solidFill>
                  <a:schemeClr val="bg1"/>
                </a:solidFill>
              </a:rPr>
              <a:t> </a:t>
            </a:r>
            <a:r>
              <a:rPr lang="en-GB" sz="7200" b="1" dirty="0">
                <a:solidFill>
                  <a:schemeClr val="bg1"/>
                </a:solidFill>
              </a:rPr>
              <a:t>Length</a:t>
            </a:r>
            <a:endParaRPr lang="en-GB" sz="7200" dirty="0">
              <a:solidFill>
                <a:schemeClr val="bg1"/>
              </a:solidFill>
            </a:endParaRPr>
          </a:p>
          <a:p>
            <a:pPr lvl="2"/>
            <a:r>
              <a:rPr lang="en-GB" sz="7200" dirty="0">
                <a:solidFill>
                  <a:schemeClr val="bg1"/>
                </a:solidFill>
              </a:rPr>
              <a:t>Column heights show magnitude differences clearly.</a:t>
            </a:r>
          </a:p>
          <a:p>
            <a:pPr lvl="1"/>
            <a:r>
              <a:rPr lang="en-GB" sz="7200" dirty="0">
                <a:solidFill>
                  <a:schemeClr val="bg1"/>
                </a:solidFill>
              </a:rPr>
              <a:t> </a:t>
            </a:r>
            <a:r>
              <a:rPr lang="en-GB" sz="7200" b="1" dirty="0" err="1">
                <a:solidFill>
                  <a:schemeClr val="bg1"/>
                </a:solidFill>
              </a:rPr>
              <a:t>Color</a:t>
            </a:r>
            <a:endParaRPr lang="en-GB" sz="7200" dirty="0">
              <a:solidFill>
                <a:schemeClr val="bg1"/>
              </a:solidFill>
            </a:endParaRPr>
          </a:p>
          <a:p>
            <a:pPr lvl="2"/>
            <a:r>
              <a:rPr lang="en-GB" sz="7200" dirty="0">
                <a:solidFill>
                  <a:schemeClr val="bg1"/>
                </a:solidFill>
              </a:rPr>
              <a:t>Red/orange used for higher delays.</a:t>
            </a:r>
          </a:p>
          <a:p>
            <a:pPr lvl="2"/>
            <a:r>
              <a:rPr lang="en-GB" sz="7200" dirty="0">
                <a:solidFill>
                  <a:schemeClr val="bg1"/>
                </a:solidFill>
              </a:rPr>
              <a:t>Neutral </a:t>
            </a:r>
            <a:r>
              <a:rPr lang="en-GB" sz="7200" dirty="0" err="1">
                <a:solidFill>
                  <a:schemeClr val="bg1"/>
                </a:solidFill>
              </a:rPr>
              <a:t>colors</a:t>
            </a:r>
            <a:r>
              <a:rPr lang="en-GB" sz="7200" dirty="0">
                <a:solidFill>
                  <a:schemeClr val="bg1"/>
                </a:solidFill>
              </a:rPr>
              <a:t> for normal performance.</a:t>
            </a:r>
          </a:p>
          <a:p>
            <a:pPr lvl="1"/>
            <a:r>
              <a:rPr lang="en-GB" sz="7200" dirty="0">
                <a:solidFill>
                  <a:schemeClr val="bg1"/>
                </a:solidFill>
              </a:rPr>
              <a:t> </a:t>
            </a:r>
            <a:r>
              <a:rPr lang="en-GB" sz="7200" b="1" dirty="0">
                <a:solidFill>
                  <a:schemeClr val="bg1"/>
                </a:solidFill>
              </a:rPr>
              <a:t>Consistency</a:t>
            </a:r>
            <a:endParaRPr lang="en-GB" sz="7200" dirty="0">
              <a:solidFill>
                <a:schemeClr val="bg1"/>
              </a:solidFill>
            </a:endParaRPr>
          </a:p>
          <a:p>
            <a:pPr lvl="2"/>
            <a:r>
              <a:rPr lang="en-GB" sz="7200" dirty="0">
                <a:solidFill>
                  <a:schemeClr val="bg1"/>
                </a:solidFill>
              </a:rPr>
              <a:t>Same </a:t>
            </a:r>
            <a:r>
              <a:rPr lang="en-GB" sz="7200" dirty="0" err="1">
                <a:solidFill>
                  <a:schemeClr val="bg1"/>
                </a:solidFill>
              </a:rPr>
              <a:t>color</a:t>
            </a:r>
            <a:r>
              <a:rPr lang="en-GB" sz="7200" dirty="0">
                <a:solidFill>
                  <a:schemeClr val="bg1"/>
                </a:solidFill>
              </a:rPr>
              <a:t> meaning across all visuals.</a:t>
            </a:r>
          </a:p>
          <a:p>
            <a:pPr lvl="2"/>
            <a:r>
              <a:rPr lang="en-GB" sz="7200" dirty="0">
                <a:solidFill>
                  <a:schemeClr val="bg1"/>
                </a:solidFill>
              </a:rPr>
              <a:t>Uniform axis scales prevent misinterpretation.</a:t>
            </a:r>
          </a:p>
          <a:p>
            <a:pPr lvl="1"/>
            <a:r>
              <a:rPr lang="en-GB" sz="7200" dirty="0">
                <a:solidFill>
                  <a:schemeClr val="bg1"/>
                </a:solidFill>
              </a:rPr>
              <a:t> </a:t>
            </a:r>
            <a:r>
              <a:rPr lang="en-GB" sz="7200" b="1" dirty="0">
                <a:solidFill>
                  <a:schemeClr val="bg1"/>
                </a:solidFill>
              </a:rPr>
              <a:t>Simplicity</a:t>
            </a:r>
            <a:endParaRPr lang="en-GB" sz="7200" dirty="0">
              <a:solidFill>
                <a:schemeClr val="bg1"/>
              </a:solidFill>
            </a:endParaRPr>
          </a:p>
          <a:p>
            <a:pPr lvl="2"/>
            <a:r>
              <a:rPr lang="en-GB" sz="7200" dirty="0">
                <a:solidFill>
                  <a:schemeClr val="bg1"/>
                </a:solidFill>
              </a:rPr>
              <a:t>Removed unnecessary labels and clutter.</a:t>
            </a:r>
          </a:p>
          <a:p>
            <a:pPr lvl="2"/>
            <a:r>
              <a:rPr lang="en-GB" sz="7200" dirty="0">
                <a:solidFill>
                  <a:schemeClr val="bg1"/>
                </a:solidFill>
              </a:rPr>
              <a:t>Focus kept on insights, not decoration.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7696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3BC857-3548-2E6E-A0F5-E6CBDFA231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EBD7FB-BA45-AE8B-7086-04F5B1D2A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sz="6700" b="1" dirty="0"/>
              <a:t>Data-Story</a:t>
            </a:r>
            <a:r>
              <a:rPr lang="en-GB" sz="5300" b="1" dirty="0"/>
              <a:t> Driven Visualisations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C9594-5364-424A-7EA8-C770FE2E4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444624"/>
            <a:ext cx="11353800" cy="54895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3200" dirty="0">
                <a:solidFill>
                  <a:schemeClr val="bg1"/>
                </a:solidFill>
              </a:rPr>
              <a:t>Visuals were designed to tell a logical story:</a:t>
            </a:r>
          </a:p>
          <a:p>
            <a:pPr marL="0" indent="0">
              <a:buNone/>
            </a:pPr>
            <a:r>
              <a:rPr lang="en-GB" sz="3200" b="1" dirty="0">
                <a:solidFill>
                  <a:schemeClr val="bg1"/>
                </a:solidFill>
              </a:rPr>
              <a:t>1️⃣ Delay Overview</a:t>
            </a:r>
          </a:p>
          <a:p>
            <a:pPr lvl="1"/>
            <a:r>
              <a:rPr lang="en-GB" sz="2800" b="1" dirty="0">
                <a:solidFill>
                  <a:schemeClr val="bg1"/>
                </a:solidFill>
              </a:rPr>
              <a:t>Visual:</a:t>
            </a:r>
            <a:r>
              <a:rPr lang="en-GB" sz="2800" dirty="0">
                <a:solidFill>
                  <a:schemeClr val="bg1"/>
                </a:solidFill>
              </a:rPr>
              <a:t> Bar Chart</a:t>
            </a:r>
            <a:br>
              <a:rPr lang="en-GB" sz="2800" dirty="0">
                <a:solidFill>
                  <a:schemeClr val="bg1"/>
                </a:solidFill>
              </a:rPr>
            </a:br>
            <a:r>
              <a:rPr lang="en-GB" sz="2800" b="1" dirty="0">
                <a:solidFill>
                  <a:schemeClr val="bg1"/>
                </a:solidFill>
              </a:rPr>
              <a:t>Story:</a:t>
            </a:r>
            <a:r>
              <a:rPr lang="en-GB" sz="2800" dirty="0">
                <a:solidFill>
                  <a:schemeClr val="bg1"/>
                </a:solidFill>
              </a:rPr>
              <a:t> Identify airlines with highest average delays.</a:t>
            </a:r>
          </a:p>
          <a:p>
            <a:pPr marL="0" indent="0">
              <a:buNone/>
            </a:pPr>
            <a:r>
              <a:rPr lang="en-GB" sz="3200" b="1" dirty="0">
                <a:solidFill>
                  <a:schemeClr val="bg1"/>
                </a:solidFill>
              </a:rPr>
              <a:t>2️⃣ Time-Based Trends</a:t>
            </a:r>
          </a:p>
          <a:p>
            <a:pPr lvl="1"/>
            <a:r>
              <a:rPr lang="en-GB" sz="2800" b="1" dirty="0">
                <a:solidFill>
                  <a:schemeClr val="bg1"/>
                </a:solidFill>
              </a:rPr>
              <a:t>Visual:</a:t>
            </a:r>
            <a:r>
              <a:rPr lang="en-GB" sz="2800" dirty="0">
                <a:solidFill>
                  <a:schemeClr val="bg1"/>
                </a:solidFill>
              </a:rPr>
              <a:t> Line Chart</a:t>
            </a:r>
            <a:br>
              <a:rPr lang="en-GB" sz="2800" dirty="0">
                <a:solidFill>
                  <a:schemeClr val="bg1"/>
                </a:solidFill>
              </a:rPr>
            </a:br>
            <a:r>
              <a:rPr lang="en-GB" sz="2800" b="1" dirty="0">
                <a:solidFill>
                  <a:schemeClr val="bg1"/>
                </a:solidFill>
              </a:rPr>
              <a:t>Story:</a:t>
            </a:r>
            <a:r>
              <a:rPr lang="en-GB" sz="2800" dirty="0">
                <a:solidFill>
                  <a:schemeClr val="bg1"/>
                </a:solidFill>
              </a:rPr>
              <a:t> How delays change across days of the week.</a:t>
            </a:r>
          </a:p>
          <a:p>
            <a:pPr marL="0" indent="0">
              <a:buNone/>
            </a:pPr>
            <a:r>
              <a:rPr lang="en-GB" sz="3200" b="1" dirty="0">
                <a:solidFill>
                  <a:schemeClr val="bg1"/>
                </a:solidFill>
              </a:rPr>
              <a:t>3️⃣ Geographic Performance</a:t>
            </a:r>
          </a:p>
          <a:p>
            <a:pPr lvl="1"/>
            <a:r>
              <a:rPr lang="en-GB" sz="2800" b="1" dirty="0">
                <a:solidFill>
                  <a:schemeClr val="bg1"/>
                </a:solidFill>
              </a:rPr>
              <a:t>Visual:</a:t>
            </a:r>
            <a:r>
              <a:rPr lang="en-GB" sz="2800" dirty="0">
                <a:solidFill>
                  <a:schemeClr val="bg1"/>
                </a:solidFill>
              </a:rPr>
              <a:t> Map Visualization</a:t>
            </a:r>
            <a:br>
              <a:rPr lang="en-GB" sz="2800" dirty="0">
                <a:solidFill>
                  <a:schemeClr val="bg1"/>
                </a:solidFill>
              </a:rPr>
            </a:br>
            <a:r>
              <a:rPr lang="en-GB" sz="2800" b="1" dirty="0">
                <a:solidFill>
                  <a:schemeClr val="bg1"/>
                </a:solidFill>
              </a:rPr>
              <a:t>Story:</a:t>
            </a:r>
            <a:r>
              <a:rPr lang="en-GB" sz="2800" dirty="0">
                <a:solidFill>
                  <a:schemeClr val="bg1"/>
                </a:solidFill>
              </a:rPr>
              <a:t> Which airports contribute most to delays.</a:t>
            </a:r>
            <a:br>
              <a:rPr lang="en-GB" sz="2800" dirty="0">
                <a:solidFill>
                  <a:schemeClr val="bg1"/>
                </a:solidFill>
              </a:rPr>
            </a:br>
            <a:endParaRPr lang="en-GB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3200" b="1" dirty="0">
                <a:solidFill>
                  <a:schemeClr val="bg1"/>
                </a:solidFill>
              </a:rPr>
              <a:t>4️⃣ Cancellation Analysis</a:t>
            </a:r>
          </a:p>
          <a:p>
            <a:pPr lvl="1"/>
            <a:r>
              <a:rPr lang="en-GB" sz="2800" b="1" dirty="0">
                <a:solidFill>
                  <a:schemeClr val="bg1"/>
                </a:solidFill>
              </a:rPr>
              <a:t>Visual:</a:t>
            </a:r>
            <a:r>
              <a:rPr lang="en-GB" sz="2800" dirty="0">
                <a:solidFill>
                  <a:schemeClr val="bg1"/>
                </a:solidFill>
              </a:rPr>
              <a:t> KPI Cards + Column Chart</a:t>
            </a:r>
            <a:br>
              <a:rPr lang="en-GB" sz="2800" dirty="0">
                <a:solidFill>
                  <a:schemeClr val="bg1"/>
                </a:solidFill>
              </a:rPr>
            </a:br>
            <a:r>
              <a:rPr lang="en-GB" sz="2800" b="1" dirty="0">
                <a:solidFill>
                  <a:schemeClr val="bg1"/>
                </a:solidFill>
              </a:rPr>
              <a:t>Story:</a:t>
            </a:r>
            <a:r>
              <a:rPr lang="en-GB" sz="2800" dirty="0">
                <a:solidFill>
                  <a:schemeClr val="bg1"/>
                </a:solidFill>
              </a:rPr>
              <a:t> Operational reliability comparison.</a:t>
            </a:r>
          </a:p>
          <a:p>
            <a:pPr marL="0" indent="0">
              <a:buNone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389888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1337</TotalTime>
  <Words>644</Words>
  <Application>Microsoft Office PowerPoint</Application>
  <PresentationFormat>Widescreen</PresentationFormat>
  <Paragraphs>135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Times New Roman</vt:lpstr>
      <vt:lpstr>Wingdings</vt:lpstr>
      <vt:lpstr>Office Theme</vt:lpstr>
      <vt:lpstr>Analysis of US Flight Delays Using Power BI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Star Schema Modelling — What, Why, How</vt:lpstr>
      <vt:lpstr>Star Schema Modelling — What, Why, How</vt:lpstr>
      <vt:lpstr>Star Schema Modelling — What, Why, How</vt:lpstr>
      <vt:lpstr>Visual Encoding Principles Applied </vt:lpstr>
      <vt:lpstr>Data-Story Driven Visualisations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Renimol Shaji</dc:creator>
  <cp:lastModifiedBy>Pranav P. Nair</cp:lastModifiedBy>
  <cp:revision>4</cp:revision>
  <dcterms:created xsi:type="dcterms:W3CDTF">2026-02-17T07:46:29Z</dcterms:created>
  <dcterms:modified xsi:type="dcterms:W3CDTF">2026-02-22T20:01:45Z</dcterms:modified>
</cp:coreProperties>
</file>